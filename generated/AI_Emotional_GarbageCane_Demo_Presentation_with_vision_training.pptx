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8" r:id="rId6"/>
    <p:sldId id="269" r:id="rId7"/>
    <p:sldId id="270" r:id="rId8"/>
    <p:sldId id="271" r:id="rId9"/>
    <p:sldId id="260" r:id="rId10"/>
    <p:sldId id="261" r:id="rId11"/>
    <p:sldId id="272" r:id="rId12"/>
    <p:sldId id="273" r:id="rId20"/>
    <p:sldId id="274" r:id="rId21"/>
    <p:sldId id="262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A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:Relationships xmlns:rel="http://schemas.openxmlformats.org/package/2006/relationships"><rel:Relationship Id="rId8" Type="http://schemas.openxmlformats.org/officeDocument/2006/relationships/slide" Target="slides/slide7.xml" /><rel:Relationship Id="rId13" Type="http://schemas.openxmlformats.org/officeDocument/2006/relationships/slide" Target="slides/slide12.xml" /><rel:Relationship Id="rId18" Type="http://schemas.openxmlformats.org/officeDocument/2006/relationships/theme" Target="theme/theme1.xml" /><rel:Relationship Id="rId3" Type="http://schemas.openxmlformats.org/officeDocument/2006/relationships/slide" Target="slides/slide2.xml" /><rel:Relationship Id="rId7" Type="http://schemas.openxmlformats.org/officeDocument/2006/relationships/slide" Target="slides/slide6.xml" /><rel:Relationship Id="rId12" Type="http://schemas.openxmlformats.org/officeDocument/2006/relationships/slide" Target="slides/slide11.xml" /><rel:Relationship Id="rId17" Type="http://schemas.openxmlformats.org/officeDocument/2006/relationships/viewProps" Target="viewProps.xml" /><rel:Relationship Id="rId2" Type="http://schemas.openxmlformats.org/officeDocument/2006/relationships/slide" Target="slides/slide1.xml" /><rel:Relationship Id="rId16" Type="http://schemas.openxmlformats.org/officeDocument/2006/relationships/presProps" Target="presProps.xml" /><rel:Relationship Id="rId1" Type="http://schemas.openxmlformats.org/officeDocument/2006/relationships/slideMaster" Target="slideMasters/slideMaster1.xml" /><rel:Relationship Id="rId6" Type="http://schemas.openxmlformats.org/officeDocument/2006/relationships/slide" Target="slides/slide5.xml" /><rel:Relationship Id="rId11" Type="http://schemas.openxmlformats.org/officeDocument/2006/relationships/slide" Target="slides/slide10.xml" /><rel:Relationship Id="rId5" Type="http://schemas.openxmlformats.org/officeDocument/2006/relationships/slide" Target="slides/slide4.xml" /><rel:Relationship Id="rId15" Type="http://schemas.openxmlformats.org/officeDocument/2006/relationships/notesMaster" Target="notesMasters/notesMaster1.xml" /><rel:Relationship Id="rId10" Type="http://schemas.openxmlformats.org/officeDocument/2006/relationships/slide" Target="slides/slide9.xml" /><rel:Relationship Id="rId19" Type="http://schemas.openxmlformats.org/officeDocument/2006/relationships/tableStyles" Target="tableStyles.xml" /><rel:Relationship Id="rId4" Type="http://schemas.openxmlformats.org/officeDocument/2006/relationships/slide" Target="slides/slide3.xml" /><rel:Relationship Id="rId9" Type="http://schemas.openxmlformats.org/officeDocument/2006/relationships/slide" Target="slides/slide8.xml" /><rel:Relationship Id="rId14" Type="http://schemas.openxmlformats.org/officeDocument/2006/relationships/slide" Target="slides/slide13.xml" /><rel:Relationship Id="rId20" Type="http://schemas.openxmlformats.org/officeDocument/2006/relationships/slide" Target="slides/slide14.xml" /><rel:Relationship Id="rId21" Type="http://schemas.openxmlformats.org/officeDocument/2006/relationships/slide" Target="slides/slide15.xml" /></rel: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230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開場：我們做的是 AI 情緒垃圾筒。它不是只把垃圾丟進去，而是透過感測、AI 辨識、互動畫面和聲光回饋，讓使用者更願意注意自己的垃圾分類行為。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這頁要講動機：分類垃圾本身不難，但很多人不會注意。相比單純貼標籤，我們想用互動方式提醒使用者，讓環保行為更有記憶點。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這頁把作品定位講清楚：目前不強調開蓋機構，而是先完成互動流程。也就是人靠近之後，系統能自動進入辨識與回饋。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 demo 最重要的架構圖：我們不是所有程式混在一起，而是把 firmware、vision、display 分開，各自用事件格式串接。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這頁講 firmware：它的任務很單純，就是判斷有人靠近。這樣 vision 不會一直跑推論，系統也比較穩。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這頁講 vision：模型輸出不只是一個 label，而是包含 confidence、物件數量、快照路徑等資料，display 才能做完整回饋。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46309-544D-0809-D504-72F32325A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878212-41F6-5518-4103-392EDFD825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247629-2728-321B-7C29-BB9FF9DD04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這頁講 vision：模型輸出不只是一個 label，而是包含 confidence、物件數量、快照路徑等資料，display 才能做完整回饋。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8AD639-0D48-026F-428B-7937CCC2F6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760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這頁是最實際的 demo 方案：我們可以用 admin panel 模擬辨識結果，讓老師看到 UI 如何變化。這是最穩的展示內容。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結尾：我們目前最有把握展示的是 Display mock，也已經把正式整合需要的資料流定義清楚。未來會把真實 L515 觸發與 vision 模型輸出接進同一套流程。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vision_accuracy_trend.png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l515_candy_wrapper.jp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bright_indoor_exhibition_booth_scene_in_a_classr_batch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0"/>
            <a:ext cx="588233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309360" cy="6858000"/>
          </a:xfrm>
          <a:prstGeom prst="rect">
            <a:avLst/>
          </a:prstGeom>
          <a:solidFill>
            <a:srgbClr val="F1F8F3"/>
          </a:solidFill>
          <a:ln w="12700">
            <a:solidFill>
              <a:srgbClr val="F1F8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1"/>
          <p:cNvSpPr/>
          <p:nvPr/>
        </p:nvSpPr>
        <p:spPr>
          <a:xfrm>
            <a:off x="658368" y="658368"/>
            <a:ext cx="1874520" cy="384048"/>
          </a:xfrm>
          <a:prstGeom prst="roundRect">
            <a:avLst>
              <a:gd name="adj" fmla="val 23810"/>
            </a:avLst>
          </a:prstGeom>
          <a:solidFill>
            <a:srgbClr val="19342F"/>
          </a:solidFill>
          <a:ln w="12700">
            <a:solidFill>
              <a:srgbClr val="1934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2"/>
          <p:cNvSpPr/>
          <p:nvPr/>
        </p:nvSpPr>
        <p:spPr>
          <a:xfrm>
            <a:off x="768096" y="758952"/>
            <a:ext cx="1655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Demo Presentation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58368" y="1481328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9342F"/>
                </a:solidFill>
              </a:rPr>
              <a:t>AI 情緒垃圾筒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694944" y="2395728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9342F"/>
                </a:solidFill>
              </a:rPr>
              <a:t>讓丟垃圾從「被動分類」變成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9342F"/>
                </a:solidFill>
              </a:rPr>
              <a:t>有互動、有提醒、有教育感的體驗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13232" y="370332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C7A75"/>
                </a:solidFill>
              </a:rPr>
              <a:t>L515 感測 × AI 辨識 × Display UI × 聲光回饋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13232" y="4297680"/>
            <a:ext cx="4023360" cy="384048"/>
          </a:xfrm>
          <a:prstGeom prst="roundRect">
            <a:avLst>
              <a:gd name="adj" fmla="val 23810"/>
            </a:avLst>
          </a:prstGeom>
          <a:solidFill>
            <a:srgbClr val="E6F5EC"/>
          </a:solidFill>
          <a:ln w="12700">
            <a:solidFill>
              <a:srgbClr val="E6F5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7"/>
          <p:cNvSpPr/>
          <p:nvPr/>
        </p:nvSpPr>
        <p:spPr>
          <a:xfrm>
            <a:off x="822960" y="4398264"/>
            <a:ext cx="3803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9342F"/>
                </a:solidFill>
              </a:rPr>
              <a:t>展示重點：穩定 mock demo + 正式整合流程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48640" y="65471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8A1"/>
                </a:solidFill>
              </a:rPr>
              <a:t>AI-Enabled Emotional GarbageCane Demo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934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01｜為什麼做這個？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7A75"/>
                </a:solidFill>
              </a:rPr>
              <a:t>從海洋垃圾問題切入，把環保提醒做成可以互動的裝置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2926080" cy="2926080"/>
          </a:xfrm>
          <a:prstGeom prst="arc">
            <a:avLst/>
          </a:prstGeom>
          <a:noFill/>
          <a:ln w="63500">
            <a:solidFill>
              <a:srgbClr val="3CB371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1298448" y="217627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9342F"/>
                </a:solidFill>
              </a:rPr>
              <a:t>問題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78992" y="268833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A75"/>
                </a:solidFill>
              </a:rPr>
              <a:t>分類常被忽略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0" y="1572768"/>
            <a:ext cx="70408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9342F"/>
                </a:solidFill>
              </a:rPr>
              <a:t>傳統垃圾桶只接收行為，缺少即時提醒，也缺少讓使用者留下印象的互動回饋。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114800" y="2743200"/>
            <a:ext cx="23774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DE8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325112" y="2944368"/>
            <a:ext cx="475488" cy="475488"/>
          </a:xfrm>
          <a:prstGeom prst="ellipse">
            <a:avLst/>
          </a:prstGeom>
          <a:solidFill>
            <a:srgbClr val="3CB371"/>
          </a:solidFill>
          <a:ln w="12700">
            <a:solidFill>
              <a:srgbClr val="3CB37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416552" y="3026664"/>
            <a:ext cx="292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56048" y="296265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9342F"/>
                </a:solidFill>
              </a:rPr>
              <a:t>環境教育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43400" y="3639312"/>
            <a:ext cx="1920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C7A75"/>
                </a:solidFill>
              </a:rPr>
              <a:t>把「丟對垃圾」變成一個可被看見、可被記住的瞬間。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0" y="2743200"/>
            <a:ext cx="21945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DE8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6885432" y="2944368"/>
            <a:ext cx="475488" cy="475488"/>
          </a:xfrm>
          <a:prstGeom prst="ellipse">
            <a:avLst/>
          </a:prstGeom>
          <a:solidFill>
            <a:srgbClr val="3D7EFF"/>
          </a:solidFill>
          <a:ln w="12700">
            <a:solidFill>
              <a:srgbClr val="3D7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976872" y="3026664"/>
            <a:ext cx="292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516368" y="2962656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9342F"/>
                </a:solidFill>
              </a:rPr>
              <a:t>即時回饋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03720" y="3639312"/>
            <a:ext cx="17373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C7A75"/>
                </a:solidFill>
              </a:rPr>
              <a:t>使用者靠近後立即觸發辨識與畫面提示。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52560" y="2743200"/>
            <a:ext cx="22860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DE8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9262872" y="2944368"/>
            <a:ext cx="475488" cy="475488"/>
          </a:xfrm>
          <a:prstGeom prst="ellipse">
            <a:avLst/>
          </a:prstGeom>
          <a:solidFill>
            <a:srgbClr val="F6C453"/>
          </a:solidFill>
          <a:ln w="12700">
            <a:solidFill>
              <a:srgbClr val="F6C45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9354312" y="3026664"/>
            <a:ext cx="292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!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893808" y="296265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9342F"/>
                </a:solidFill>
              </a:rPr>
              <a:t>互動記憶點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81160" y="3639312"/>
            <a:ext cx="18288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C7A75"/>
                </a:solidFill>
              </a:rPr>
              <a:t>用 LED、螢幕、語音讓垃圾桶有情緒與個性。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48640" y="65471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8A1"/>
                </a:solidFill>
              </a:rPr>
              <a:t>AI-Enabled Emotional GarbageCane Demo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934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02｜作品概念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7A75"/>
                </a:solidFill>
              </a:rPr>
              <a:t>不是普通垃圾桶，而是一個會感測、會判斷、會回應的互動裝置</a:t>
            </a:r>
            <a:endParaRPr lang="en-US" sz="1050" dirty="0"/>
          </a:p>
        </p:txBody>
      </p:sp>
      <p:pic>
        <p:nvPicPr>
          <p:cNvPr id="4" name="Image 0" descr="/mnt/data/a_clean_high_resolution_conceptual_illustration_batch_2.png"/>
          <p:cNvPicPr>
            <a:picLocks noChangeAspect="1"/>
          </p:cNvPicPr>
          <p:nvPr/>
        </p:nvPicPr>
        <p:blipFill>
          <a:blip r:embed="rId3"/>
          <a:srcRect l="21344" r="21344"/>
          <a:stretch/>
        </p:blipFill>
        <p:spPr>
          <a:xfrm>
            <a:off x="621792" y="1234440"/>
            <a:ext cx="5074920" cy="4983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8076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CB371"/>
                </a:solidFill>
              </a:rPr>
              <a:t>核心想法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080760" y="1755648"/>
            <a:ext cx="53035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9342F"/>
                </a:solidFill>
              </a:rPr>
              <a:t>使用者靠近 → 系統自動觸發 → AI 判斷垃圾是否可接受 → Display 給出情緒化回饋。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108192" y="2880360"/>
            <a:ext cx="1417320" cy="384048"/>
          </a:xfrm>
          <a:prstGeom prst="roundRect">
            <a:avLst>
              <a:gd name="adj" fmla="val 23810"/>
            </a:avLst>
          </a:prstGeom>
          <a:solidFill>
            <a:srgbClr val="E6F5EC"/>
          </a:solidFill>
          <a:ln w="12700">
            <a:solidFill>
              <a:srgbClr val="E6F5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/>
          <p:nvPr/>
        </p:nvSpPr>
        <p:spPr>
          <a:xfrm>
            <a:off x="6217920" y="2980944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9342F"/>
                </a:solidFill>
              </a:rPr>
              <a:t>無按鈕互動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726680" y="2880360"/>
            <a:ext cx="1645920" cy="384048"/>
          </a:xfrm>
          <a:prstGeom prst="roundRect">
            <a:avLst>
              <a:gd name="adj" fmla="val 23810"/>
            </a:avLst>
          </a:prstGeom>
          <a:solidFill>
            <a:srgbClr val="E6F5EC"/>
          </a:solidFill>
          <a:ln w="12700">
            <a:solidFill>
              <a:srgbClr val="E6F5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7"/>
          <p:cNvSpPr/>
          <p:nvPr/>
        </p:nvSpPr>
        <p:spPr>
          <a:xfrm>
            <a:off x="7836408" y="2980944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9342F"/>
                </a:solidFill>
              </a:rPr>
              <a:t>即時視覺辨識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9582912" y="2880360"/>
            <a:ext cx="1371600" cy="384048"/>
          </a:xfrm>
          <a:prstGeom prst="roundRect">
            <a:avLst>
              <a:gd name="adj" fmla="val 23810"/>
            </a:avLst>
          </a:prstGeom>
          <a:solidFill>
            <a:srgbClr val="E6F5EC"/>
          </a:solidFill>
          <a:ln w="12700">
            <a:solidFill>
              <a:srgbClr val="E6F5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9"/>
          <p:cNvSpPr/>
          <p:nvPr/>
        </p:nvSpPr>
        <p:spPr>
          <a:xfrm>
            <a:off x="9692640" y="2980944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9342F"/>
                </a:solidFill>
              </a:rPr>
              <a:t>聲光回饋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126480" y="3794760"/>
            <a:ext cx="49377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C7A75"/>
                </a:solidFill>
              </a:rPr>
              <a:t>Demo 目標不是先做完整機構，而是先展示「感測 → 推論 → 回饋」這條主流程能被清楚串起來。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48640" y="65471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8A1"/>
                </a:solidFill>
              </a:rPr>
              <a:t>AI-Enabled Emotional GarbageCane Demo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934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03｜系統架構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7A75"/>
                </a:solidFill>
              </a:rPr>
              <a:t>三個子系統各自負責，透過固定事件格式串接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971800" y="2999232"/>
            <a:ext cx="1161288" cy="0"/>
          </a:xfrm>
          <a:prstGeom prst="line">
            <a:avLst/>
          </a:prstGeom>
          <a:noFill/>
          <a:ln w="25400">
            <a:solidFill>
              <a:srgbClr val="3CB37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5897880" y="2999232"/>
            <a:ext cx="1161288" cy="0"/>
          </a:xfrm>
          <a:prstGeom prst="line">
            <a:avLst/>
          </a:prstGeom>
          <a:noFill/>
          <a:ln w="25400">
            <a:solidFill>
              <a:srgbClr val="3CB37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8823960" y="2999232"/>
            <a:ext cx="960120" cy="0"/>
          </a:xfrm>
          <a:prstGeom prst="line">
            <a:avLst/>
          </a:prstGeom>
          <a:noFill/>
          <a:ln w="25400">
            <a:solidFill>
              <a:srgbClr val="3CB37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685800" y="2011680"/>
            <a:ext cx="228600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8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896112" y="2212848"/>
            <a:ext cx="475488" cy="475488"/>
          </a:xfrm>
          <a:prstGeom prst="ellipse">
            <a:avLst/>
          </a:prstGeom>
          <a:solidFill>
            <a:srgbClr val="3CB371"/>
          </a:solidFill>
          <a:ln w="12700">
            <a:solidFill>
              <a:srgbClr val="3CB37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987552" y="2295144"/>
            <a:ext cx="292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27048" y="223113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9342F"/>
                </a:solidFill>
              </a:rPr>
              <a:t>Firmware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907792"/>
            <a:ext cx="182880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C7A75"/>
                </a:solidFill>
              </a:rPr>
              <a:t>L515 depth </a:t>
            </a:r>
            <a:r>
              <a:rPr lang="en-US" sz="1200" dirty="0" err="1">
                <a:solidFill>
                  <a:srgbClr val="6C7A75"/>
                </a:solidFill>
              </a:rPr>
              <a:t>偵測</a:t>
            </a:r>
            <a:r>
              <a:rPr lang="zh-TW" altLang="en-US" sz="1200" dirty="0">
                <a:solidFill>
                  <a:srgbClr val="6C7A75"/>
                </a:solidFill>
              </a:rPr>
              <a:t>到垃圾</a:t>
            </a:r>
            <a:r>
              <a:rPr lang="en-US" sz="1200" dirty="0">
                <a:solidFill>
                  <a:srgbClr val="6C7A75"/>
                </a:solidFill>
              </a:rPr>
              <a:t>，送出 user_detected。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49040" y="2011680"/>
            <a:ext cx="228600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8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3959352" y="2212848"/>
            <a:ext cx="475488" cy="475488"/>
          </a:xfrm>
          <a:prstGeom prst="ellipse">
            <a:avLst/>
          </a:prstGeom>
          <a:solidFill>
            <a:srgbClr val="3D7EFF"/>
          </a:solidFill>
          <a:ln w="12700">
            <a:solidFill>
              <a:srgbClr val="3D7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4050792" y="2295144"/>
            <a:ext cx="292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90288" y="223113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9342F"/>
                </a:solidFill>
              </a:rPr>
              <a:t>Vision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977640" y="2907792"/>
            <a:ext cx="182880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C7A75"/>
                </a:solidFill>
              </a:rPr>
              <a:t>讀取 RGB 畫面，進行垃圾分類，輸出 recognition_result。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12280" y="2011680"/>
            <a:ext cx="228600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8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7022592" y="2212848"/>
            <a:ext cx="475488" cy="475488"/>
          </a:xfrm>
          <a:prstGeom prst="ellipse">
            <a:avLst/>
          </a:prstGeom>
          <a:solidFill>
            <a:srgbClr val="F6C453"/>
          </a:solidFill>
          <a:ln w="12700">
            <a:solidFill>
              <a:srgbClr val="F6C45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7114032" y="2295144"/>
            <a:ext cx="292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653528" y="223113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9342F"/>
                </a:solidFill>
              </a:rPr>
              <a:t>Display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40880" y="2907792"/>
            <a:ext cx="182880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C7A75"/>
                </a:solidFill>
              </a:rPr>
              <a:t>接收結果，更新互動畫面、語音、LED 狀態與紀錄。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738360" y="2011680"/>
            <a:ext cx="182880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8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9948672" y="2212848"/>
            <a:ext cx="475488" cy="475488"/>
          </a:xfrm>
          <a:prstGeom prst="ellipse">
            <a:avLst/>
          </a:prstGeom>
          <a:solidFill>
            <a:srgbClr val="E85D5D"/>
          </a:solidFill>
          <a:ln w="12700">
            <a:solidFill>
              <a:srgbClr val="E85D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10040112" y="2295144"/>
            <a:ext cx="292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U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79608" y="2231136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9342F"/>
                </a:solidFill>
              </a:rPr>
              <a:t>User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966960" y="2907792"/>
            <a:ext cx="137160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C7A75"/>
                </a:solidFill>
              </a:rPr>
              <a:t>看到結果，理解是否分類正確，形成下一次行為提醒。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343400" y="4892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9342F"/>
                </a:solidFill>
              </a:rPr>
              <a:t>Queue / Contract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246120" y="5358384"/>
            <a:ext cx="5806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A75"/>
                </a:solidFill>
              </a:rPr>
              <a:t>q_detected：firmware → vision｜q_result：vision → display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48640" y="65471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8A1"/>
                </a:solidFill>
              </a:rPr>
              <a:t>AI-Enabled Emotional GarbageCane Demo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 dirty="0">
                <a:solidFill>
                  <a:srgbClr val="0F1B26"/>
                </a:solidFill>
                <a:latin typeface="Microsoft JhengHei"/>
              </a:rPr>
              <a:t>04-1｜模組連接方式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C6975"/>
                </a:solidFill>
                <a:latin typeface="Microsoft JhengHei"/>
              </a:rPr>
              <a:t>用事件驅動的方式串接三個 repo，降低現場 demo 失敗風險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43584"/>
            <a:ext cx="109728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2057400" cy="77724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Firmware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2057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C6975"/>
                </a:solidFill>
                <a:latin typeface="Microsoft JhengHei"/>
              </a:defRPr>
            </a:pPr>
            <a:r>
              <a:t>L515 Depth</a:t>
            </a:r>
            <a:br/>
            <a:r>
              <a:t>靠近偵測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16352" y="2212848"/>
            <a:ext cx="493776" cy="0"/>
          </a:xfrm>
          <a:prstGeom prst="line">
            <a:avLst/>
          </a:prstGeom>
          <a:ln w="25400">
            <a:solidFill>
              <a:srgbClr val="5C69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401568" y="1828800"/>
            <a:ext cx="2057400" cy="77724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Queue / Event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1568" y="2651760"/>
            <a:ext cx="2057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C6975"/>
                </a:solidFill>
                <a:latin typeface="Microsoft JhengHei"/>
              </a:defRPr>
            </a:pPr>
            <a:r>
              <a:t>JSON payload</a:t>
            </a:r>
            <a:br/>
            <a:r>
              <a:t>模組契約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532120" y="2212848"/>
            <a:ext cx="493776" cy="0"/>
          </a:xfrm>
          <a:prstGeom prst="line">
            <a:avLst/>
          </a:prstGeom>
          <a:ln w="25400">
            <a:solidFill>
              <a:srgbClr val="5C69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117336" y="1828800"/>
            <a:ext cx="2057400" cy="777240"/>
          </a:xfrm>
          <a:prstGeom prst="roundRect">
            <a:avLst/>
          </a:prstGeom>
          <a:solidFill>
            <a:srgbClr val="F5B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Vision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17336" y="2651760"/>
            <a:ext cx="2057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C6975"/>
                </a:solidFill>
                <a:latin typeface="Microsoft JhengHei"/>
              </a:defRPr>
            </a:pPr>
            <a:r>
              <a:t>RGB 擷取</a:t>
            </a:r>
            <a:br/>
            <a:r>
              <a:t>AI 推論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47888" y="2212848"/>
            <a:ext cx="493776" cy="0"/>
          </a:xfrm>
          <a:prstGeom prst="line">
            <a:avLst/>
          </a:prstGeom>
          <a:ln w="25400">
            <a:solidFill>
              <a:srgbClr val="5C69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833104" y="1828800"/>
            <a:ext cx="2057400" cy="777240"/>
          </a:xfrm>
          <a:prstGeom prst="roundRect">
            <a:avLst/>
          </a:prstGeom>
          <a:solidFill>
            <a:srgbClr val="EF6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Display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2651760"/>
            <a:ext cx="2057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C6975"/>
                </a:solidFill>
                <a:latin typeface="Microsoft JhengHei"/>
              </a:defRPr>
            </a:pPr>
            <a:r>
              <a:t>Web UI</a:t>
            </a:r>
            <a:br/>
            <a:r>
              <a:t>聲光回饋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657600"/>
            <a:ext cx="35204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3657600"/>
            <a:ext cx="73152" cy="1508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3803904"/>
            <a:ext cx="3200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F1B26"/>
                </a:solidFill>
                <a:latin typeface="Microsoft JhengHei"/>
              </a:rPr>
              <a:t>為什麼不用全部寫在一起？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178807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5C6975"/>
                </a:solidFill>
                <a:latin typeface="Microsoft JhengHei"/>
              </a:defRPr>
            </a:pPr>
            <a:r>
              <a:t>各模組可以分開測試：</a:t>
            </a:r>
          </a:p>
          <a:p>
            <a:pPr>
              <a:spcAft>
                <a:spcPts val="200"/>
              </a:spcAft>
              <a:defRPr sz="1120">
                <a:solidFill>
                  <a:srgbClr val="5C6975"/>
                </a:solidFill>
                <a:latin typeface="Microsoft JhengHei"/>
              </a:defRPr>
            </a:pPr>
            <a:r>
              <a:t>Firmware 測距離、Vision 測模型、Display 測畫面。</a:t>
            </a:r>
          </a:p>
          <a:p>
            <a:pPr>
              <a:spcAft>
                <a:spcPts val="200"/>
              </a:spcAft>
              <a:defRPr sz="1120">
                <a:solidFill>
                  <a:srgbClr val="5C6975"/>
                </a:solidFill>
                <a:latin typeface="Microsoft JhengHei"/>
              </a:defRPr>
            </a:pPr>
            <a:r>
              <a:t>其中一段不穩時，仍能用 mock event 展示完整流程。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657600"/>
            <a:ext cx="35204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34840" y="3657600"/>
            <a:ext cx="73152" cy="150876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36008" y="3803904"/>
            <a:ext cx="3200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F1B26"/>
                </a:solidFill>
                <a:latin typeface="Microsoft JhengHei"/>
              </a:rPr>
              <a:t>連接核心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6008" y="4178807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5C6975"/>
                </a:solidFill>
                <a:latin typeface="Microsoft JhengHei"/>
              </a:defRPr>
            </a:pPr>
            <a:r>
              <a:t>三邊都遵守同一份 event format。</a:t>
            </a:r>
          </a:p>
          <a:p>
            <a:pPr>
              <a:spcAft>
                <a:spcPts val="200"/>
              </a:spcAft>
              <a:defRPr sz="1120">
                <a:solidFill>
                  <a:srgbClr val="5C6975"/>
                </a:solidFill>
                <a:latin typeface="Microsoft JhengHei"/>
              </a:defRPr>
            </a:pPr>
            <a:r>
              <a:t>Firmware 不需要知道模型細節；Display 也不需要知道模型怎麼訓練，只接收結果。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79" y="3657600"/>
            <a:ext cx="33375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83879" y="3657600"/>
            <a:ext cx="73152" cy="1508760"/>
          </a:xfrm>
          <a:prstGeom prst="rect">
            <a:avLst/>
          </a:prstGeom>
          <a:solidFill>
            <a:srgbClr val="EF6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85047" y="3803904"/>
            <a:ext cx="3017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F1B26"/>
                </a:solidFill>
                <a:latin typeface="Microsoft JhengHei"/>
              </a:rPr>
              <a:t>Demo 策略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5047" y="4178807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5C6975"/>
                </a:solidFill>
                <a:latin typeface="Microsoft JhengHei"/>
              </a:defRPr>
            </a:pPr>
            <a:r>
              <a:t>正式實機：L515 → Vision → Display。</a:t>
            </a:r>
          </a:p>
          <a:p>
            <a:pPr>
              <a:spcAft>
                <a:spcPts val="200"/>
              </a:spcAft>
              <a:defRPr sz="1120">
                <a:solidFill>
                  <a:srgbClr val="5C6975"/>
                </a:solidFill>
                <a:latin typeface="Microsoft JhengHei"/>
              </a:defRPr>
            </a:pPr>
            <a:r>
              <a:t>現場保底：Admin mock 直接送結果給 Display，確保展示不會卡住。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1B26"/>
                </a:solidFill>
                <a:latin typeface="Microsoft JhengHei"/>
              </a:rPr>
              <a:t>04-2｜事件資料格式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C6975"/>
                </a:solidFill>
                <a:latin typeface="Microsoft JhengHei"/>
              </a:rPr>
              <a:t>Firmware 和 Vision 都用 JSON event 傳資料，讓 Display 可以即時理解狀態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43584"/>
            <a:ext cx="109728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5257800" cy="1965960"/>
          </a:xfrm>
          <a:prstGeom prst="roundRect">
            <a:avLst/>
          </a:prstGeom>
          <a:solidFill>
            <a:srgbClr val="1C222A"/>
          </a:solidFill>
          <a:ln>
            <a:solidFill>
              <a:srgbClr val="28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746504"/>
            <a:ext cx="498348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019">
                <a:solidFill>
                  <a:srgbClr val="E6F0EB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0"/>
              </a:spcAft>
              <a:defRPr sz="1019">
                <a:solidFill>
                  <a:srgbClr val="E6F0EB"/>
                </a:solidFill>
                <a:latin typeface="Consolas"/>
              </a:defRPr>
            </a:pPr>
            <a:r>
              <a:t>  "event": "user_detected",</a:t>
            </a:r>
          </a:p>
          <a:p>
            <a:pPr>
              <a:spcAft>
                <a:spcPts val="0"/>
              </a:spcAft>
              <a:defRPr sz="1019">
                <a:solidFill>
                  <a:srgbClr val="E6F0EB"/>
                </a:solidFill>
                <a:latin typeface="Consolas"/>
              </a:defRPr>
            </a:pPr>
            <a:r>
              <a:t>  "distance_cm": 25.0,</a:t>
            </a:r>
          </a:p>
          <a:p>
            <a:pPr>
              <a:spcAft>
                <a:spcPts val="0"/>
              </a:spcAft>
              <a:defRPr sz="1019">
                <a:solidFill>
                  <a:srgbClr val="E6F0EB"/>
                </a:solidFill>
                <a:latin typeface="Consolas"/>
              </a:defRPr>
            </a:pPr>
            <a:r>
              <a:t>  "ts": "2026-06-08T10:00:00"</a:t>
            </a:r>
          </a:p>
          <a:p>
            <a:pPr>
              <a:spcAft>
                <a:spcPts val="0"/>
              </a:spcAft>
              <a:defRPr sz="1019">
                <a:solidFill>
                  <a:srgbClr val="E6F0E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00200"/>
            <a:ext cx="5257800" cy="1965960"/>
          </a:xfrm>
          <a:prstGeom prst="roundRect">
            <a:avLst/>
          </a:prstGeom>
          <a:solidFill>
            <a:srgbClr val="1C222A"/>
          </a:solidFill>
          <a:ln>
            <a:solidFill>
              <a:srgbClr val="28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73952" y="1746504"/>
            <a:ext cx="498348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019">
                <a:solidFill>
                  <a:srgbClr val="E6F0EB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0"/>
              </a:spcAft>
              <a:defRPr sz="1019">
                <a:solidFill>
                  <a:srgbClr val="E6F0EB"/>
                </a:solidFill>
                <a:latin typeface="Consolas"/>
              </a:defRPr>
            </a:pPr>
            <a:r>
              <a:t>  "event": "recognition_result",</a:t>
            </a:r>
          </a:p>
          <a:p>
            <a:pPr>
              <a:spcAft>
                <a:spcPts val="0"/>
              </a:spcAft>
              <a:defRPr sz="1019">
                <a:solidFill>
                  <a:srgbClr val="E6F0EB"/>
                </a:solidFill>
                <a:latin typeface="Consolas"/>
              </a:defRPr>
            </a:pPr>
            <a:r>
              <a:t>  "class": "accept",</a:t>
            </a:r>
          </a:p>
          <a:p>
            <a:pPr>
              <a:spcAft>
                <a:spcPts val="0"/>
              </a:spcAft>
              <a:defRPr sz="1019">
                <a:solidFill>
                  <a:srgbClr val="E6F0EB"/>
                </a:solidFill>
                <a:latin typeface="Consolas"/>
              </a:defRPr>
            </a:pPr>
            <a:r>
              <a:t>  "confidence": 0.86,</a:t>
            </a:r>
          </a:p>
          <a:p>
            <a:pPr>
              <a:spcAft>
                <a:spcPts val="0"/>
              </a:spcAft>
              <a:defRPr sz="1019">
                <a:solidFill>
                  <a:srgbClr val="E6F0EB"/>
                </a:solidFill>
                <a:latin typeface="Consolas"/>
              </a:defRPr>
            </a:pPr>
            <a:r>
              <a:t>  "num_objects": 1,</a:t>
            </a:r>
          </a:p>
          <a:p>
            <a:pPr>
              <a:spcAft>
                <a:spcPts val="0"/>
              </a:spcAft>
              <a:defRPr sz="1019">
                <a:solidFill>
                  <a:srgbClr val="E6F0EB"/>
                </a:solidFill>
                <a:latin typeface="Consolas"/>
              </a:defRPr>
            </a:pPr>
            <a:r>
              <a:t>  "snapshot_path": "snapshots/001.jpg",</a:t>
            </a:r>
          </a:p>
          <a:p>
            <a:pPr>
              <a:spcAft>
                <a:spcPts val="0"/>
              </a:spcAft>
              <a:defRPr sz="1019">
                <a:solidFill>
                  <a:srgbClr val="E6F0EB"/>
                </a:solidFill>
                <a:latin typeface="Consolas"/>
              </a:defRPr>
            </a:pPr>
            <a:r>
              <a:t>  "ts": "2026-06-08T10:00:02"</a:t>
            </a:r>
          </a:p>
          <a:p>
            <a:pPr>
              <a:spcAft>
                <a:spcPts val="0"/>
              </a:spcAft>
              <a:defRPr sz="1019">
                <a:solidFill>
                  <a:srgbClr val="E6F0E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886200"/>
            <a:ext cx="3474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3886200"/>
            <a:ext cx="73152" cy="14173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4032504"/>
            <a:ext cx="31546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F1B26"/>
                </a:solidFill>
                <a:latin typeface="Microsoft JhengHei"/>
              </a:rPr>
              <a:t>user_detected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4407407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5C6975"/>
                </a:solidFill>
                <a:latin typeface="Microsoft JhengHei"/>
              </a:defRPr>
            </a:pPr>
            <a:r>
              <a:t>由 Firmware 送出。</a:t>
            </a:r>
          </a:p>
          <a:p>
            <a:pPr>
              <a:spcAft>
                <a:spcPts val="200"/>
              </a:spcAft>
              <a:defRPr sz="1120">
                <a:solidFill>
                  <a:srgbClr val="5C6975"/>
                </a:solidFill>
                <a:latin typeface="Microsoft JhengHei"/>
              </a:defRPr>
            </a:pPr>
            <a:r>
              <a:t>代表使用者已進入感測範圍，可以通知 Vision 開始擷取畫面與推論。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3886200"/>
            <a:ext cx="3474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34840" y="3886200"/>
            <a:ext cx="73152" cy="1417320"/>
          </a:xfrm>
          <a:prstGeom prst="rect">
            <a:avLst/>
          </a:prstGeom>
          <a:solidFill>
            <a:srgbClr val="F5B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36008" y="4032504"/>
            <a:ext cx="31546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F1B26"/>
                </a:solidFill>
                <a:latin typeface="Microsoft JhengHei"/>
              </a:rPr>
              <a:t>recognition_result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4407407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5C6975"/>
                </a:solidFill>
                <a:latin typeface="Microsoft JhengHei"/>
              </a:defRPr>
            </a:pPr>
            <a:r>
              <a:t>由 Vision 送出。</a:t>
            </a:r>
          </a:p>
          <a:p>
            <a:pPr>
              <a:spcAft>
                <a:spcPts val="200"/>
              </a:spcAft>
              <a:defRPr sz="1120">
                <a:solidFill>
                  <a:srgbClr val="5C6975"/>
                </a:solidFill>
                <a:latin typeface="Microsoft JhengHei"/>
              </a:defRPr>
            </a:pPr>
            <a:r>
              <a:t>包含分類結果、信心分數、物件數量與快照路徑，給 Display 做畫面更新。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3886200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83879" y="3886200"/>
            <a:ext cx="73152" cy="1417320"/>
          </a:xfrm>
          <a:prstGeom prst="rect">
            <a:avLst/>
          </a:prstGeom>
          <a:solidFill>
            <a:srgbClr val="EF6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85047" y="4032504"/>
            <a:ext cx="3017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F1B26"/>
                </a:solidFill>
                <a:latin typeface="Microsoft JhengHei"/>
              </a:rPr>
              <a:t>threshold 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7" y="4407407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5C6975"/>
                </a:solidFill>
                <a:latin typeface="Microsoft JhengHei"/>
              </a:defRPr>
            </a:pPr>
            <a:r>
              <a:t>只有 class=accept 且 confidence 達門檻時才放行。</a:t>
            </a:r>
          </a:p>
          <a:p>
            <a:pPr>
              <a:spcAft>
                <a:spcPts val="200"/>
              </a:spcAft>
              <a:defRPr sz="1120">
                <a:solidFill>
                  <a:srgbClr val="5C6975"/>
                </a:solidFill>
                <a:latin typeface="Microsoft JhengHei"/>
              </a:defRPr>
            </a:pPr>
            <a:r>
              <a:t>低信心或多物件會提醒使用者重試。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1B26"/>
                </a:solidFill>
                <a:latin typeface="Microsoft JhengHei"/>
              </a:rPr>
              <a:t>04-3｜Display 即時更新機制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C6975"/>
                </a:solidFill>
                <a:latin typeface="Microsoft JhengHei"/>
              </a:rPr>
              <a:t>Display 不是靜態頁面，而是接收事件後即時改變畫面、紀錄和聲音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43584"/>
            <a:ext cx="109728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34290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73152" cy="13716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746504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F1B26"/>
                </a:solidFill>
                <a:latin typeface="Microsoft JhengHei"/>
              </a:rPr>
              <a:t>1. Browser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121407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5C6975"/>
                </a:solidFill>
                <a:latin typeface="Microsoft JhengHei"/>
              </a:defRPr>
            </a:pPr>
            <a:r>
              <a:t>使用者看到主畫面：狀態燈、辨識結果、提醒文字、今日統計與最近事件。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00200"/>
            <a:ext cx="34290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600200"/>
            <a:ext cx="73152" cy="13716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36008" y="1746504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F1B26"/>
                </a:solidFill>
                <a:latin typeface="Microsoft JhengHei"/>
              </a:rPr>
              <a:t>2. Server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2121407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5C6975"/>
                </a:solidFill>
                <a:latin typeface="Microsoft JhengHei"/>
              </a:defRPr>
            </a:pPr>
            <a:r>
              <a:t>Admin mock 或正式 q_result 送進後端；後端把事件整理成前端可以使用的狀態。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600200"/>
            <a:ext cx="33375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83879" y="1600200"/>
            <a:ext cx="73152" cy="1371600"/>
          </a:xfrm>
          <a:prstGeom prst="rect">
            <a:avLst/>
          </a:prstGeom>
          <a:solidFill>
            <a:srgbClr val="F5B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85047" y="1746504"/>
            <a:ext cx="3017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F1B26"/>
                </a:solidFill>
                <a:latin typeface="Microsoft JhengHei"/>
              </a:rPr>
              <a:t>3. SSE / Event Stream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7" y="2121407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5C6975"/>
                </a:solidFill>
                <a:latin typeface="Microsoft JhengHei"/>
              </a:defRPr>
            </a:pPr>
            <a:r>
              <a:t>前端透過事件串流接收最新狀態，不需要一直重新整理頁面。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3794760"/>
            <a:ext cx="1828800" cy="59436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/api/simulate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40" y="3794760"/>
            <a:ext cx="1828800" cy="59436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event state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3794760"/>
            <a:ext cx="1828800" cy="594360"/>
          </a:xfrm>
          <a:prstGeom prst="roundRect">
            <a:avLst/>
          </a:prstGeom>
          <a:solidFill>
            <a:srgbClr val="F5B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/events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49640" y="3794760"/>
            <a:ext cx="1828800" cy="594360"/>
          </a:xfrm>
          <a:prstGeom prst="roundRect">
            <a:avLst/>
          </a:prstGeom>
          <a:solidFill>
            <a:srgbClr val="EF6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UI update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926080" y="4096512"/>
            <a:ext cx="438912" cy="0"/>
          </a:xfrm>
          <a:prstGeom prst="line">
            <a:avLst/>
          </a:prstGeom>
          <a:ln w="25400">
            <a:solidFill>
              <a:srgbClr val="5C69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440680" y="4096512"/>
            <a:ext cx="438912" cy="0"/>
          </a:xfrm>
          <a:prstGeom prst="line">
            <a:avLst/>
          </a:prstGeom>
          <a:ln w="25400">
            <a:solidFill>
              <a:srgbClr val="5C69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955279" y="4096512"/>
            <a:ext cx="438912" cy="0"/>
          </a:xfrm>
          <a:prstGeom prst="line">
            <a:avLst/>
          </a:prstGeom>
          <a:ln w="25400">
            <a:solidFill>
              <a:srgbClr val="5C69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1B26"/>
                </a:solidFill>
                <a:latin typeface="Microsoft JhengHei"/>
              </a:rPr>
              <a:t>04-4｜實機連接規劃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C6975"/>
                </a:solidFill>
                <a:latin typeface="Microsoft JhengHei"/>
              </a:rPr>
              <a:t>把感測、推論、顯示與聲音分成可替換模組，方便在 Jetson 上整合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43584"/>
            <a:ext cx="109728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76072" y="3127248"/>
            <a:ext cx="27432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6072" y="3127248"/>
            <a:ext cx="73152" cy="1508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3273552"/>
            <a:ext cx="2423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F1B26"/>
                </a:solidFill>
                <a:latin typeface="Microsoft JhengHei"/>
              </a:rPr>
              <a:t>感測端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48455"/>
            <a:ext cx="2423160" cy="660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5C6975"/>
                </a:solidFill>
                <a:latin typeface="Microsoft JhengHei"/>
              </a:defRPr>
            </a:pPr>
            <a:r>
              <a:rPr dirty="0"/>
              <a:t>Intel RealSense L515</a:t>
            </a:r>
          </a:p>
          <a:p>
            <a:pPr>
              <a:spcAft>
                <a:spcPts val="200"/>
              </a:spcAft>
              <a:defRPr sz="1120">
                <a:solidFill>
                  <a:srgbClr val="5C6975"/>
                </a:solidFill>
                <a:latin typeface="Microsoft JhengHei"/>
              </a:defRPr>
            </a:pPr>
            <a:r>
              <a:rPr dirty="0" err="1"/>
              <a:t>Depth：判斷</a:t>
            </a:r>
            <a:r>
              <a:rPr lang="zh-TW" altLang="en-US" dirty="0"/>
              <a:t>垃圾</a:t>
            </a:r>
            <a:r>
              <a:rPr dirty="0" err="1"/>
              <a:t>靠近</a:t>
            </a:r>
            <a:endParaRPr dirty="0"/>
          </a:p>
          <a:p>
            <a:pPr>
              <a:spcAft>
                <a:spcPts val="200"/>
              </a:spcAft>
              <a:defRPr sz="1120">
                <a:solidFill>
                  <a:srgbClr val="5C6975"/>
                </a:solidFill>
                <a:latin typeface="Microsoft JhengHei"/>
              </a:defRPr>
            </a:pPr>
            <a:r>
              <a:rPr dirty="0" err="1"/>
              <a:t>RGB：提供垃圾影像給模型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3547872" y="3127248"/>
            <a:ext cx="27432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47872" y="3127248"/>
            <a:ext cx="73152" cy="150876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49040" y="3273552"/>
            <a:ext cx="2423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F1B26"/>
                </a:solidFill>
                <a:latin typeface="Microsoft JhengHei"/>
              </a:rPr>
              <a:t>運算端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3648455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5C6975"/>
                </a:solidFill>
                <a:latin typeface="Microsoft JhengHei"/>
              </a:defRPr>
            </a:pPr>
            <a:r>
              <a:t>Jetson AGX Orin Nano</a:t>
            </a:r>
          </a:p>
          <a:p>
            <a:pPr>
              <a:spcAft>
                <a:spcPts val="200"/>
              </a:spcAft>
              <a:defRPr sz="1120">
                <a:solidFill>
                  <a:srgbClr val="5C6975"/>
                </a:solidFill>
                <a:latin typeface="Microsoft JhengHei"/>
              </a:defRPr>
            </a:pPr>
            <a:r>
              <a:t>執行 firmware / vision</a:t>
            </a:r>
          </a:p>
          <a:p>
            <a:pPr>
              <a:spcAft>
                <a:spcPts val="200"/>
              </a:spcAft>
              <a:defRPr sz="1120">
                <a:solidFill>
                  <a:srgbClr val="5C6975"/>
                </a:solidFill>
                <a:latin typeface="Microsoft JhengHei"/>
              </a:defRPr>
            </a:pPr>
            <a:r>
              <a:t>ONNX 模型推論與事件傳遞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9672" y="3127248"/>
            <a:ext cx="2331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19672" y="3127248"/>
            <a:ext cx="73152" cy="1508760"/>
          </a:xfrm>
          <a:prstGeom prst="rect">
            <a:avLst/>
          </a:prstGeom>
          <a:solidFill>
            <a:srgbClr val="F5B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20840" y="3273552"/>
            <a:ext cx="20116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F1B26"/>
                </a:solidFill>
                <a:latin typeface="Microsoft JhengHei"/>
              </a:rPr>
              <a:t>顯示端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3648455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5C6975"/>
                </a:solidFill>
                <a:latin typeface="Microsoft JhengHei"/>
              </a:defRPr>
            </a:pPr>
            <a:r>
              <a:t>Web Display UI</a:t>
            </a:r>
          </a:p>
          <a:p>
            <a:pPr>
              <a:spcAft>
                <a:spcPts val="200"/>
              </a:spcAft>
              <a:defRPr sz="1120">
                <a:solidFill>
                  <a:srgbClr val="5C6975"/>
                </a:solidFill>
                <a:latin typeface="Microsoft JhengHei"/>
              </a:defRPr>
            </a:pPr>
            <a:r>
              <a:t>可用本機螢幕、平板或筆電瀏覽器開啟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79992" y="3127248"/>
            <a:ext cx="24231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079992" y="3127248"/>
            <a:ext cx="73152" cy="1508760"/>
          </a:xfrm>
          <a:prstGeom prst="rect">
            <a:avLst/>
          </a:prstGeom>
          <a:solidFill>
            <a:srgbClr val="EF6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81160" y="3273552"/>
            <a:ext cx="2103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F1B26"/>
                </a:solidFill>
                <a:latin typeface="Microsoft JhengHei"/>
              </a:rPr>
              <a:t>回饋端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3648455"/>
            <a:ext cx="2103120" cy="635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5C6975"/>
                </a:solidFill>
                <a:latin typeface="Microsoft JhengHei"/>
              </a:defRPr>
            </a:pPr>
            <a:r>
              <a:rPr dirty="0"/>
              <a:t>LED </a:t>
            </a:r>
            <a:r>
              <a:rPr dirty="0" err="1"/>
              <a:t>燈條</a:t>
            </a:r>
            <a:r>
              <a:rPr dirty="0"/>
              <a:t> / </a:t>
            </a:r>
            <a:r>
              <a:rPr dirty="0" err="1"/>
              <a:t>喇叭</a:t>
            </a:r>
            <a:endParaRPr dirty="0"/>
          </a:p>
          <a:p>
            <a:pPr>
              <a:spcAft>
                <a:spcPts val="200"/>
              </a:spcAft>
              <a:defRPr sz="1120">
                <a:solidFill>
                  <a:srgbClr val="5C6975"/>
                </a:solidFill>
                <a:latin typeface="Microsoft JhengHei"/>
              </a:defRPr>
            </a:pPr>
            <a:r>
              <a:rPr dirty="0"/>
              <a:t>依 </a:t>
            </a:r>
            <a:r>
              <a:rPr dirty="0" err="1"/>
              <a:t>accept、reject、low</a:t>
            </a:r>
            <a:r>
              <a:rPr dirty="0"/>
              <a:t> </a:t>
            </a:r>
            <a:r>
              <a:rPr dirty="0" err="1"/>
              <a:t>狀態做</a:t>
            </a:r>
            <a:r>
              <a:rPr lang="zh-TW" altLang="en-US" dirty="0"/>
              <a:t>組員</a:t>
            </a:r>
            <a:r>
              <a:rPr dirty="0"/>
              <a:t>聲</a:t>
            </a:r>
            <a:r>
              <a:rPr lang="zh-TW" altLang="en-US" dirty="0"/>
              <a:t>音</a:t>
            </a:r>
            <a:r>
              <a:rPr dirty="0" err="1"/>
              <a:t>回饋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934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04｜Firmware：靠近偵測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7A75"/>
                </a:solidFill>
              </a:rPr>
              <a:t>L515 depth 先判斷使用者是否靠近，避免系統一直推論</a:t>
            </a:r>
            <a:endParaRPr lang="en-US" sz="1050" dirty="0"/>
          </a:p>
        </p:txBody>
      </p:sp>
      <p:pic>
        <p:nvPicPr>
          <p:cNvPr id="4" name="Image 0" descr="/mnt/data/a_clean_high_resolution_conceptual_illustration_batch_2.png"/>
          <p:cNvPicPr>
            <a:picLocks noChangeAspect="1"/>
          </p:cNvPicPr>
          <p:nvPr/>
        </p:nvPicPr>
        <p:blipFill>
          <a:blip r:embed="rId3"/>
          <a:srcRect l="20439" r="20439"/>
          <a:stretch/>
        </p:blipFill>
        <p:spPr>
          <a:xfrm>
            <a:off x="594360" y="1234440"/>
            <a:ext cx="4754880" cy="4526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42432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CB371"/>
                </a:solidFill>
              </a:rPr>
              <a:t>偵測邏輯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742432" y="1764792"/>
            <a:ext cx="521208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342F"/>
                </a:solidFill>
              </a:rPr>
              <a:t>使用中央 ROI 的 depth median 判斷距離；預設 30cm 內觸發，並設 cooldown 避免連續觸發。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989320" y="27889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CB371"/>
                </a:solidFill>
              </a:rPr>
              <a:t>30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5760720" y="335584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9342F"/>
                </a:solidFill>
              </a:rPr>
              <a:t>cm trigger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818120" y="27889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D7EFF"/>
                </a:solidFill>
              </a:rPr>
              <a:t>2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7589520" y="335584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9342F"/>
                </a:solidFill>
              </a:rPr>
              <a:t>sec cooldown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372600" y="27889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6C453"/>
                </a:solidFill>
              </a:rPr>
              <a:t>L515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9308592" y="33558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9342F"/>
                </a:solidFill>
              </a:rPr>
              <a:t>RGB + depth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760720" y="4617720"/>
            <a:ext cx="51663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DE8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1"/>
          <p:cNvSpPr/>
          <p:nvPr/>
        </p:nvSpPr>
        <p:spPr>
          <a:xfrm>
            <a:off x="6016752" y="4882896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9342F"/>
                </a:solidFill>
              </a:rPr>
              <a:t>{ event: "user_detected", distance_cm, ts }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548640" y="65471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8A1"/>
                </a:solidFill>
              </a:rPr>
              <a:t>AI-Enabled Emotional GarbageCane Demo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934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05｜Vision：AI 垃圾辨識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7A75"/>
                </a:solidFill>
              </a:rPr>
              <a:t>接收觸發後擷取畫面，輸出可被 UI 使用的辨識結果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3840480" cy="4526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DE8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960120" y="16916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CB371"/>
                </a:solidFill>
              </a:rPr>
              <a:t>Input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03020" y="2404872"/>
            <a:ext cx="3063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9342F"/>
                </a:solidFill>
              </a:rPr>
              <a:t>user_detected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19342F"/>
                </a:solidFill>
              </a:rPr>
              <a:t>+ L515 RGB frame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074920" y="16916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D7EFF"/>
                </a:solidFill>
              </a:rPr>
              <a:t>Model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800600" y="2121408"/>
            <a:ext cx="27432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DE8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5010912" y="2322576"/>
            <a:ext cx="475488" cy="475488"/>
          </a:xfrm>
          <a:prstGeom prst="ellipse">
            <a:avLst/>
          </a:prstGeom>
          <a:solidFill>
            <a:srgbClr val="3D7EFF"/>
          </a:solidFill>
          <a:ln w="12700">
            <a:solidFill>
              <a:srgbClr val="3D7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5102352" y="2404872"/>
            <a:ext cx="292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0" y="2294871"/>
            <a:ext cx="1691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9342F"/>
                </a:solidFill>
              </a:rPr>
              <a:t>YOLOv11n binary classification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3017520"/>
            <a:ext cx="228600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C7A75"/>
                </a:solidFill>
              </a:rPr>
              <a:t>分類結果為 accept / reject，並搭配 confidence 判斷放行。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21040" y="16916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6C453"/>
                </a:solidFill>
              </a:rPr>
              <a:t>Output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092440" y="2121408"/>
            <a:ext cx="324612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DE8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8394192" y="24505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342F"/>
                </a:solidFill>
              </a:rPr>
              <a:t>recognition_result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94192" y="2898648"/>
            <a:ext cx="265176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C7A75"/>
                </a:solidFill>
              </a:rPr>
              <a:t>class / confidence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C7A75"/>
                </a:solidFill>
              </a:rPr>
              <a:t>num_objects / snapshot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C7A75"/>
                </a:solidFill>
              </a:rPr>
              <a:t>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498848" y="3236976"/>
            <a:ext cx="256032" cy="0"/>
          </a:xfrm>
          <a:prstGeom prst="line">
            <a:avLst/>
          </a:prstGeom>
          <a:noFill/>
          <a:ln w="25400">
            <a:solidFill>
              <a:srgbClr val="3CB37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7543800" y="3236976"/>
            <a:ext cx="521208" cy="0"/>
          </a:xfrm>
          <a:prstGeom prst="line">
            <a:avLst/>
          </a:prstGeom>
          <a:noFill/>
          <a:ln w="25400">
            <a:solidFill>
              <a:srgbClr val="3D7E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4617720" y="5074920"/>
            <a:ext cx="3611880" cy="384048"/>
          </a:xfrm>
          <a:prstGeom prst="roundRect">
            <a:avLst>
              <a:gd name="adj" fmla="val 23810"/>
            </a:avLst>
          </a:prstGeom>
          <a:solidFill>
            <a:srgbClr val="E6F5EC"/>
          </a:solidFill>
          <a:ln w="12700">
            <a:solidFill>
              <a:srgbClr val="E6F5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4727448" y="5175504"/>
            <a:ext cx="3392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9342F"/>
                </a:solidFill>
              </a:rPr>
              <a:t>保守放行：accept 且 confidence ≥ 0.76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48640" y="65471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8A1"/>
                </a:solidFill>
              </a:rPr>
              <a:t>AI-Enabled Emotional GarbageCane Demo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 name="Vision Training">
    <p:bg>
      <p:bgPr>
        <a:solidFill>
          <a:srgbClr val="F6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84048"/>
            <a:ext cx="10515600" cy="41148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op"/>
          <a:lstStyle/>
          <a:p>
            <a:pPr marL="0" indent="0">
              <a:buNone/>
            </a:pPr>
            <a:r>
              <a:rPr lang="zh-TW" altLang="en-US" sz="2600" dirty="0" b="1">
                <a:solidFill>
                  <a:srgbClr val="1934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05-1｜Vision：模型訓練歷程</a:t>
            </a:r>
            <a:endParaRPr lang="zh-TW" altLang="en-US" sz="2600" dirty="0"/>
          </a:p>
        </p:txBody>
      </p:sp>
      <p:sp>
        <p:nvSpPr>
          <p:cNvPr id="3" name="Subtitle"/>
          <p:cNvSpPr/>
          <p:nvPr/>
        </p:nvSpPr>
        <p:spPr>
          <a:xfrm>
            <a:off x="566928" y="841248"/>
            <a:ext cx="10800000" cy="256032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op"/>
          <a:lstStyle/>
          <a:p>
            <a:pPr marL="0" indent="0">
              <a:buNone/>
            </a:pPr>
            <a:r>
              <a:rPr lang="zh-TW" altLang="en-US" sz="1050" dirty="0">
                <a:solidFill>
                  <a:srgbClr val="6C7A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從公開資料 baseline 到 demo-only fine-tune，重點從「準確率」轉向「場景可用性」</a:t>
            </a:r>
            <a:endParaRPr lang="zh-TW" altLang="en-US" sz="1050" dirty="0"/>
          </a:p>
        </p:txBody>
      </p:sp>
      <p:sp>
        <p:nvSpPr>
          <p:cNvPr id="10" name="Card 1"/>
          <p:cNvSpPr/>
          <p:nvPr/>
        </p:nvSpPr>
        <p:spPr>
          <a:xfrm>
            <a:off x="685800" y="1450000"/>
            <a:ext cx="3370000" cy="33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8E1"/>
            </a:solidFill>
          </a:ln>
        </p:spPr>
        <p:txBody>
          <a:bodyPr wrap="square" lIns="90000" tIns="90000" rIns="90000" bIns="90000" rtlCol="0" anchor="top"/>
          <a:lstStyle/>
          <a:p>
            <a:pPr marL="0" indent="0">
              <a:buNone/>
            </a:pPr>
            <a:r>
              <a:rPr lang="zh-TW" altLang="en-US" sz="800" dirty="0">
                <a:solidFill>
                  <a:srgbClr val="1934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endParaRPr lang="zh-TW" altLang="en-US" sz="800" dirty="0"/>
          </a:p>
        </p:txBody>
      </p:sp>
      <p:sp>
        <p:nvSpPr>
          <p:cNvPr id="11" name="Accent 1"/>
          <p:cNvSpPr/>
          <p:nvPr/>
        </p:nvSpPr>
        <p:spPr>
          <a:xfrm>
            <a:off x="905800" y="1710000"/>
            <a:ext cx="390000" cy="390000"/>
          </a:xfrm>
          <a:prstGeom prst="ellipse">
            <a:avLst/>
          </a:prstGeom>
          <a:solidFill>
            <a:srgbClr val="3CB371"/>
          </a:solidFill>
          <a:ln w="0">
            <a:solidFill>
              <a:srgbClr val="FFFFFF">
                <a:alpha val="0"/>
              </a:srgbClr>
            </a:solidFill>
          </a:ln>
        </p:spPr>
        <p:txBody>
          <a:bodyPr wrap="square" lIns="90000" tIns="90000" rIns="90000" bIns="90000" rtlCol="0" anchor="top"/>
          <a:lstStyle/>
          <a:p>
            <a:pPr marL="0" indent="0">
              <a:buNone/>
            </a:pPr>
            <a:r>
              <a:rPr lang="zh-TW" altLang="en-US" sz="800" dirty="0">
                <a:solidFill>
                  <a:srgbClr val="1934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endParaRPr lang="zh-TW" altLang="en-US" sz="800" dirty="0"/>
          </a:p>
        </p:txBody>
      </p:sp>
      <p:sp>
        <p:nvSpPr>
          <p:cNvPr id="12" name="Card header 1"/>
          <p:cNvSpPr/>
          <p:nvPr/>
        </p:nvSpPr>
        <p:spPr>
          <a:xfrm>
            <a:off x="1405800" y="1660000"/>
            <a:ext cx="2470000" cy="34000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op"/>
          <a:lstStyle/>
          <a:p>
            <a:pPr marL="0" indent="0">
              <a:buNone/>
            </a:pPr>
            <a:r>
              <a:rPr lang="zh-TW" altLang="en-US" sz="1500" dirty="0" b="1">
                <a:solidFill>
                  <a:srgbClr val="3CB3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Public baseline</a:t>
            </a:r>
            <a:endParaRPr lang="zh-TW" altLang="en-US" sz="1500" dirty="0"/>
          </a:p>
        </p:txBody>
      </p:sp>
      <p:sp>
        <p:nvSpPr>
          <p:cNvPr id="13" name="Card sub 1"/>
          <p:cNvSpPr/>
          <p:nvPr/>
        </p:nvSpPr>
        <p:spPr>
          <a:xfrm>
            <a:off x="945800" y="2230000"/>
            <a:ext cx="2850000" cy="42000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op"/>
          <a:lstStyle/>
          <a:p>
            <a:pPr marL="0" indent="0">
              <a:buNone/>
            </a:pPr>
            <a:r>
              <a:rPr lang="zh-TW" altLang="en-US" sz="1150" dirty="0" b="1">
                <a:solidFill>
                  <a:srgbClr val="1934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開源資料建立可運作基準</a:t>
            </a:r>
            <a:endParaRPr lang="zh-TW" altLang="en-US" sz="1150" dirty="0"/>
          </a:p>
        </p:txBody>
      </p:sp>
      <p:sp>
        <p:nvSpPr>
          <p:cNvPr id="14" name="Card body 1"/>
          <p:cNvSpPr/>
          <p:nvPr/>
        </p:nvSpPr>
        <p:spPr>
          <a:xfrm>
            <a:off x="945800" y="2770000"/>
            <a:ext cx="2850000" cy="170000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op"/>
          <a:lstStyle/>
          <a:p>
            <a:pPr marL="0" indent="0">
              <a:buNone/>
            </a:pPr>
            <a:r>
              <a:rPr lang="zh-TW" altLang="en-US" sz="950" dirty="0">
                <a:solidFill>
                  <a:srgbClr val="6C7A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TrashNet + RealWaste</a:t>
            </a:r>
            <a:endParaRPr lang="zh-TW" altLang="en-US" sz="950" dirty="0"/>
          </a:p>
          <a:p>
            <a:pPr marL="0" indent="0">
              <a:buNone/>
            </a:pPr>
            <a:r>
              <a:rPr lang="zh-TW" altLang="en-US" sz="950" dirty="0">
                <a:solidFill>
                  <a:srgbClr val="6C7A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YOLOv11n cls / 50 epochs</a:t>
            </a:r>
            <a:endParaRPr lang="zh-TW" altLang="en-US" sz="950" dirty="0"/>
          </a:p>
          <a:p>
            <a:pPr marL="0" indent="0">
              <a:buNone/>
            </a:pPr>
            <a:r>
              <a:rPr lang="zh-TW" altLang="en-US" sz="950" dirty="0">
                <a:solidFill>
                  <a:srgbClr val="6C7A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Test top-1：85.6%</a:t>
            </a:r>
            <a:endParaRPr lang="zh-TW" altLang="en-US" sz="950" dirty="0"/>
          </a:p>
          <a:p>
            <a:pPr marL="0" indent="0">
              <a:buNone/>
            </a:pPr>
            <a:r>
              <a:rPr lang="zh-TW" altLang="en-US" sz="950" dirty="0">
                <a:solidFill>
                  <a:srgbClr val="6C7A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部署 gate 後 false accept：9.8%</a:t>
            </a:r>
            <a:endParaRPr lang="zh-TW" altLang="en-US" sz="950" dirty="0"/>
          </a:p>
        </p:txBody>
      </p:sp>
      <p:sp>
        <p:nvSpPr>
          <p:cNvPr id="15" name="Card 2"/>
          <p:cNvSpPr/>
          <p:nvPr/>
        </p:nvSpPr>
        <p:spPr>
          <a:xfrm>
            <a:off x="4419600" y="1450000"/>
            <a:ext cx="3370000" cy="33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8E1"/>
            </a:solidFill>
          </a:ln>
        </p:spPr>
        <p:txBody>
          <a:bodyPr wrap="square" lIns="90000" tIns="90000" rIns="90000" bIns="90000" rtlCol="0" anchor="top"/>
          <a:lstStyle/>
          <a:p>
            <a:pPr marL="0" indent="0">
              <a:buNone/>
            </a:pPr>
            <a:r>
              <a:rPr lang="zh-TW" altLang="en-US" sz="800" dirty="0">
                <a:solidFill>
                  <a:srgbClr val="1934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endParaRPr lang="zh-TW" altLang="en-US" sz="800" dirty="0"/>
          </a:p>
        </p:txBody>
      </p:sp>
      <p:sp>
        <p:nvSpPr>
          <p:cNvPr id="16" name="Accent 2"/>
          <p:cNvSpPr/>
          <p:nvPr/>
        </p:nvSpPr>
        <p:spPr>
          <a:xfrm>
            <a:off x="4639600" y="1710000"/>
            <a:ext cx="390000" cy="390000"/>
          </a:xfrm>
          <a:prstGeom prst="ellipse">
            <a:avLst/>
          </a:prstGeom>
          <a:solidFill>
            <a:srgbClr val="3D7EFF"/>
          </a:solidFill>
          <a:ln w="0">
            <a:solidFill>
              <a:srgbClr val="FFFFFF">
                <a:alpha val="0"/>
              </a:srgbClr>
            </a:solidFill>
          </a:ln>
        </p:spPr>
        <p:txBody>
          <a:bodyPr wrap="square" lIns="90000" tIns="90000" rIns="90000" bIns="90000" rtlCol="0" anchor="top"/>
          <a:lstStyle/>
          <a:p>
            <a:pPr marL="0" indent="0">
              <a:buNone/>
            </a:pPr>
            <a:r>
              <a:rPr lang="zh-TW" altLang="en-US" sz="800" dirty="0">
                <a:solidFill>
                  <a:srgbClr val="1934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endParaRPr lang="zh-TW" altLang="en-US" sz="800" dirty="0"/>
          </a:p>
        </p:txBody>
      </p:sp>
      <p:sp>
        <p:nvSpPr>
          <p:cNvPr id="17" name="Card header 2"/>
          <p:cNvSpPr/>
          <p:nvPr/>
        </p:nvSpPr>
        <p:spPr>
          <a:xfrm>
            <a:off x="5139600" y="1660000"/>
            <a:ext cx="2470000" cy="34000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op"/>
          <a:lstStyle/>
          <a:p>
            <a:pPr marL="0" indent="0">
              <a:buNone/>
            </a:pPr>
            <a:r>
              <a:rPr lang="zh-TW" altLang="en-US" sz="1500" dirty="0" b="1">
                <a:solidFill>
                  <a:srgbClr val="3D7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Hard-negative</a:t>
            </a:r>
            <a:endParaRPr lang="zh-TW" altLang="en-US" sz="1500" dirty="0"/>
          </a:p>
        </p:txBody>
      </p:sp>
      <p:sp>
        <p:nvSpPr>
          <p:cNvPr id="18" name="Card sub 2"/>
          <p:cNvSpPr/>
          <p:nvPr/>
        </p:nvSpPr>
        <p:spPr>
          <a:xfrm>
            <a:off x="4679600" y="2230000"/>
            <a:ext cx="2850000" cy="42000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op"/>
          <a:lstStyle/>
          <a:p>
            <a:pPr marL="0" indent="0">
              <a:buNone/>
            </a:pPr>
            <a:r>
              <a:rPr lang="zh-TW" altLang="en-US" sz="1150" dirty="0" b="1">
                <a:solidFill>
                  <a:srgbClr val="1934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嘗試降低錯誤接受風險</a:t>
            </a:r>
            <a:endParaRPr lang="zh-TW" altLang="en-US" sz="1150" dirty="0"/>
          </a:p>
        </p:txBody>
      </p:sp>
      <p:sp>
        <p:nvSpPr>
          <p:cNvPr id="19" name="Card body 2"/>
          <p:cNvSpPr/>
          <p:nvPr/>
        </p:nvSpPr>
        <p:spPr>
          <a:xfrm>
            <a:off x="4679600" y="2770000"/>
            <a:ext cx="2850000" cy="170000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op"/>
          <a:lstStyle/>
          <a:p>
            <a:pPr marL="0" indent="0">
              <a:buNone/>
            </a:pPr>
            <a:r>
              <a:rPr lang="zh-TW" altLang="en-US" sz="950" dirty="0">
                <a:solidFill>
                  <a:srgbClr val="6C7A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Colab 第 9 epoch 中斷</a:t>
            </a:r>
            <a:endParaRPr lang="zh-TW" altLang="en-US" sz="950" dirty="0"/>
          </a:p>
          <a:p>
            <a:pPr marL="0" indent="0">
              <a:buNone/>
            </a:pPr>
            <a:r>
              <a:rPr lang="zh-TW" altLang="en-US" sz="950" dirty="0">
                <a:solidFill>
                  <a:srgbClr val="6C7A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Raw test top-1：87.5%</a:t>
            </a:r>
            <a:endParaRPr lang="zh-TW" altLang="en-US" sz="950" dirty="0"/>
          </a:p>
          <a:p>
            <a:pPr marL="0" indent="0">
              <a:buNone/>
            </a:pPr>
            <a:r>
              <a:rPr lang="zh-TW" altLang="en-US" sz="950" dirty="0">
                <a:solidFill>
                  <a:srgbClr val="6C7A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Gate false accept：16.6%</a:t>
            </a:r>
            <a:endParaRPr lang="zh-TW" altLang="en-US" sz="950" dirty="0"/>
          </a:p>
          <a:p>
            <a:pPr marL="0" indent="0">
              <a:buNone/>
            </a:pPr>
            <a:r>
              <a:rPr lang="zh-TW" altLang="en-US" sz="950" dirty="0">
                <a:solidFill>
                  <a:srgbClr val="6C7A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準確率提升 ≠ 部署風險下降</a:t>
            </a:r>
            <a:endParaRPr lang="zh-TW" altLang="en-US" sz="950" dirty="0"/>
          </a:p>
        </p:txBody>
      </p:sp>
      <p:sp>
        <p:nvSpPr>
          <p:cNvPr id="20" name="Card 3"/>
          <p:cNvSpPr/>
          <p:nvPr/>
        </p:nvSpPr>
        <p:spPr>
          <a:xfrm>
            <a:off x="8153400" y="1450000"/>
            <a:ext cx="3370000" cy="33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8E1"/>
            </a:solidFill>
          </a:ln>
        </p:spPr>
        <p:txBody>
          <a:bodyPr wrap="square" lIns="90000" tIns="90000" rIns="90000" bIns="90000" rtlCol="0" anchor="top"/>
          <a:lstStyle/>
          <a:p>
            <a:pPr marL="0" indent="0">
              <a:buNone/>
            </a:pPr>
            <a:r>
              <a:rPr lang="zh-TW" altLang="en-US" sz="800" dirty="0">
                <a:solidFill>
                  <a:srgbClr val="1934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endParaRPr lang="zh-TW" altLang="en-US" sz="800" dirty="0"/>
          </a:p>
        </p:txBody>
      </p:sp>
      <p:sp>
        <p:nvSpPr>
          <p:cNvPr id="21" name="Accent 3"/>
          <p:cNvSpPr/>
          <p:nvPr/>
        </p:nvSpPr>
        <p:spPr>
          <a:xfrm>
            <a:off x="8373400" y="1710000"/>
            <a:ext cx="390000" cy="390000"/>
          </a:xfrm>
          <a:prstGeom prst="ellipse">
            <a:avLst/>
          </a:prstGeom>
          <a:solidFill>
            <a:srgbClr val="FFB84D"/>
          </a:solidFill>
          <a:ln w="0">
            <a:solidFill>
              <a:srgbClr val="FFFFFF">
                <a:alpha val="0"/>
              </a:srgbClr>
            </a:solidFill>
          </a:ln>
        </p:spPr>
        <p:txBody>
          <a:bodyPr wrap="square" lIns="90000" tIns="90000" rIns="90000" bIns="90000" rtlCol="0" anchor="top"/>
          <a:lstStyle/>
          <a:p>
            <a:pPr marL="0" indent="0">
              <a:buNone/>
            </a:pPr>
            <a:r>
              <a:rPr lang="zh-TW" altLang="en-US" sz="800" dirty="0">
                <a:solidFill>
                  <a:srgbClr val="1934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endParaRPr lang="zh-TW" altLang="en-US" sz="800" dirty="0"/>
          </a:p>
        </p:txBody>
      </p:sp>
      <p:sp>
        <p:nvSpPr>
          <p:cNvPr id="22" name="Card header 3"/>
          <p:cNvSpPr/>
          <p:nvPr/>
        </p:nvSpPr>
        <p:spPr>
          <a:xfrm>
            <a:off x="8873400" y="1660000"/>
            <a:ext cx="2470000" cy="34000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op"/>
          <a:lstStyle/>
          <a:p>
            <a:pPr marL="0" indent="0">
              <a:buNone/>
            </a:pPr>
            <a:r>
              <a:rPr lang="zh-TW" altLang="en-US" sz="1500" dirty="0" b="1">
                <a:solidFill>
                  <a:srgbClr val="FFB8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accept recall</a:t>
            </a:r>
            <a:endParaRPr lang="zh-TW" altLang="en-US" sz="1500" dirty="0"/>
          </a:p>
        </p:txBody>
      </p:sp>
      <p:sp>
        <p:nvSpPr>
          <p:cNvPr id="23" name="Card sub 3"/>
          <p:cNvSpPr/>
          <p:nvPr/>
        </p:nvSpPr>
        <p:spPr>
          <a:xfrm>
            <a:off x="8413400" y="2230000"/>
            <a:ext cx="2850000" cy="42000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op"/>
          <a:lstStyle/>
          <a:p>
            <a:pPr marL="0" indent="0">
              <a:buNone/>
            </a:pPr>
            <a:r>
              <a:rPr lang="zh-TW" altLang="en-US" sz="1150" dirty="0" b="1">
                <a:solidFill>
                  <a:srgbClr val="1934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為明天展示做通過率調校</a:t>
            </a:r>
            <a:endParaRPr lang="zh-TW" altLang="en-US" sz="1150" dirty="0"/>
          </a:p>
        </p:txBody>
      </p:sp>
      <p:sp>
        <p:nvSpPr>
          <p:cNvPr id="24" name="Card body 3"/>
          <p:cNvSpPr/>
          <p:nvPr/>
        </p:nvSpPr>
        <p:spPr>
          <a:xfrm>
            <a:off x="8413400" y="2770000"/>
            <a:ext cx="2850000" cy="170000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op"/>
          <a:lstStyle/>
          <a:p>
            <a:pPr marL="0" indent="0">
              <a:buNone/>
            </a:pPr>
            <a:r>
              <a:rPr lang="zh-TW" altLang="en-US" sz="950" dirty="0">
                <a:solidFill>
                  <a:srgbClr val="6C7A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 accept seed fine-tune</a:t>
            </a:r>
            <a:endParaRPr lang="zh-TW" altLang="en-US" sz="950" dirty="0"/>
          </a:p>
          <a:p>
            <a:pPr marL="0" indent="0">
              <a:buNone/>
            </a:pPr>
            <a:r>
              <a:rPr lang="zh-TW" altLang="en-US" sz="950" dirty="0">
                <a:solidFill>
                  <a:srgbClr val="6C7A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Early stop：11 epochs</a:t>
            </a:r>
            <a:endParaRPr lang="zh-TW" altLang="en-US" sz="950" dirty="0"/>
          </a:p>
          <a:p>
            <a:pPr marL="0" indent="0">
              <a:buNone/>
            </a:pPr>
            <a:r>
              <a:rPr lang="zh-TW" altLang="en-US" sz="950" dirty="0">
                <a:solidFill>
                  <a:srgbClr val="6C7A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Best epoch：6 / val top-1：87.8%</a:t>
            </a:r>
            <a:endParaRPr lang="zh-TW" altLang="en-US" sz="950" dirty="0"/>
          </a:p>
          <a:p>
            <a:pPr marL="0" indent="0">
              <a:buNone/>
            </a:pPr>
            <a:r>
              <a:rPr lang="zh-TW" altLang="en-US" sz="950" dirty="0">
                <a:solidFill>
                  <a:srgbClr val="6C7A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Demo-only，不取代正式模型</a:t>
            </a:r>
            <a:endParaRPr lang="zh-TW" altLang="en-US" sz="950" dirty="0"/>
          </a:p>
        </p:txBody>
      </p:sp>
      <p:sp>
        <p:nvSpPr>
          <p:cNvPr id="40" name="Bottom callout"/>
          <p:cNvSpPr/>
          <p:nvPr/>
        </p:nvSpPr>
        <p:spPr>
          <a:xfrm>
            <a:off x="1051560" y="5227320"/>
            <a:ext cx="10100000" cy="548640"/>
          </a:xfrm>
          <a:prstGeom prst="roundRect">
            <a:avLst/>
          </a:prstGeom>
          <a:solidFill>
            <a:srgbClr val="EAF5EF"/>
          </a:solidFill>
          <a:ln w="12700">
            <a:solidFill>
              <a:srgbClr val="CDE7D9"/>
            </a:solidFill>
          </a:ln>
        </p:spPr>
        <p:txBody>
          <a:bodyPr wrap="square" lIns="120000" tIns="120000" rIns="120000" bIns="120000" rtlCol="0" anchor="ctr"/>
          <a:lstStyle/>
          <a:p>
            <a:pPr marL="0" indent="0">
              <a:buNone/>
            </a:pPr>
            <a:r>
              <a:rPr lang="zh-TW" altLang="en-US" sz="1350" dirty="0" b="1">
                <a:solidFill>
                  <a:srgbClr val="1934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結論：Accuracy 只是起點，模型必須用真實桶口資料與產品標籤規則校正。</a:t>
            </a:r>
            <a:endParaRPr lang="zh-TW" altLang="en-US" sz="1350" dirty="0"/>
          </a:p>
        </p:txBody>
      </p:sp>
      <p:sp>
        <p:nvSpPr>
          <p:cNvPr id="50" name="Footer"/>
          <p:cNvSpPr/>
          <p:nvPr/>
        </p:nvSpPr>
        <p:spPr>
          <a:xfrm>
            <a:off x="548640" y="6547104"/>
            <a:ext cx="3657600" cy="18288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op"/>
          <a:lstStyle/>
          <a:p>
            <a:pPr marL="0" indent="0">
              <a:buNone/>
            </a:pPr>
            <a:r>
              <a:rPr lang="zh-TW" altLang="en-US" sz="800" dirty="0">
                <a:solidFill>
                  <a:srgbClr val="9AA8A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AI-Enabled Emotional GarbageCane Demo</a:t>
            </a:r>
            <a:endParaRPr lang="zh-TW" alt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934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06｜Display：展示互動主角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7144450" y="176497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9342F"/>
                </a:solidFill>
              </a:rPr>
              <a:t>Display 目前能展示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7208458" y="2784534"/>
            <a:ext cx="256032" cy="256032"/>
          </a:xfrm>
          <a:prstGeom prst="ellipse">
            <a:avLst/>
          </a:prstGeom>
          <a:solidFill>
            <a:srgbClr val="3CB371"/>
          </a:solidFill>
          <a:ln w="12700">
            <a:solidFill>
              <a:srgbClr val="3CB37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4"/>
          <p:cNvSpPr/>
          <p:nvPr/>
        </p:nvSpPr>
        <p:spPr>
          <a:xfrm>
            <a:off x="7619938" y="273881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9342F"/>
                </a:solidFill>
              </a:rPr>
              <a:t>Accept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082978" y="273881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C7A75"/>
                </a:solidFill>
              </a:rPr>
              <a:t>可接受垃圾，顯示正向回饋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208458" y="3534342"/>
            <a:ext cx="256032" cy="256032"/>
          </a:xfrm>
          <a:prstGeom prst="ellipse">
            <a:avLst/>
          </a:prstGeom>
          <a:solidFill>
            <a:srgbClr val="E85D5D"/>
          </a:solidFill>
          <a:ln w="12700">
            <a:solidFill>
              <a:srgbClr val="E85D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7"/>
          <p:cNvSpPr/>
          <p:nvPr/>
        </p:nvSpPr>
        <p:spPr>
          <a:xfrm>
            <a:off x="7619938" y="348862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9342F"/>
                </a:solidFill>
              </a:rPr>
              <a:t>Reject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082978" y="348862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C7A75"/>
                </a:solidFill>
              </a:rPr>
              <a:t>不可接受或分類錯誤，顯示提醒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48640" y="65471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8A1"/>
                </a:solidFill>
              </a:rPr>
              <a:t>AI-Enabled Emotional GarbageCane Demo</a:t>
            </a:r>
            <a:endParaRPr lang="en-US" sz="800" dirty="0"/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FE272D93-9826-F644-9C28-211B5ACAE0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780" t="11540"/>
          <a:stretch>
            <a:fillRect/>
          </a:stretch>
        </p:blipFill>
        <p:spPr>
          <a:xfrm>
            <a:off x="377018" y="1337170"/>
            <a:ext cx="6161090" cy="397334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309360" cy="6858000"/>
          </a:xfrm>
          <a:prstGeom prst="rect">
            <a:avLst/>
          </a:prstGeom>
          <a:solidFill>
            <a:srgbClr val="19342F"/>
          </a:solidFill>
          <a:ln w="12700">
            <a:solidFill>
              <a:srgbClr val="1934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3" name="Image 0" descr="/mnt/data/a_bright_indoor_exhibition_booth_scene_in_a_classr_batch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0"/>
            <a:ext cx="5882335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914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Demo 核心結論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822960" y="1828800"/>
            <a:ext cx="516636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我們已經把智慧垃圾桶的互動流程拆成清楚模組，並完成可展示的 Display mock demo。接下來只要把 L515 與 vision 結果接進同一個事件格式，就能從模擬展示轉成實機展示。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868680" y="3749040"/>
            <a:ext cx="480060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4"/>
          <p:cNvSpPr/>
          <p:nvPr/>
        </p:nvSpPr>
        <p:spPr>
          <a:xfrm>
            <a:off x="978408" y="3849624"/>
            <a:ext cx="4581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9342F"/>
                </a:solidFill>
              </a:rPr>
              <a:t>Firmware → Vision → Display → User Feedback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68680" y="5166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8E6A3"/>
                </a:solidFill>
              </a:rPr>
              <a:t>Q &amp; A</a:t>
            </a:r>
            <a:endParaRPr lang="en-US" sz="3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Accuracy Trend">
    <p:bg>
      <p:bgPr>
        <a:solidFill>
          <a:srgbClr val="F6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84048"/>
            <a:ext cx="10515600" cy="41148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op"/>
          <a:lstStyle/>
          <a:p>
            <a:pPr marL="0" indent="0">
              <a:buNone/>
            </a:pPr>
            <a:r>
              <a:rPr lang="zh-TW" altLang="en-US" sz="2600" dirty="0" b="1">
                <a:solidFill>
                  <a:srgbClr val="1934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05-2｜模型 Accuracy 走勢</a:t>
            </a:r>
            <a:endParaRPr lang="zh-TW" altLang="en-US" sz="2600" dirty="0"/>
          </a:p>
        </p:txBody>
      </p:sp>
      <p:sp>
        <p:nvSpPr>
          <p:cNvPr id="3" name="Subtitle"/>
          <p:cNvSpPr/>
          <p:nvPr/>
        </p:nvSpPr>
        <p:spPr>
          <a:xfrm>
            <a:off x="566928" y="841248"/>
            <a:ext cx="10800000" cy="256032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op"/>
          <a:lstStyle/>
          <a:p>
            <a:pPr marL="0" indent="0">
              <a:buNone/>
            </a:pPr>
            <a:r>
              <a:rPr lang="zh-TW" altLang="en-US" sz="1050" dirty="0">
                <a:solidFill>
                  <a:srgbClr val="6C7A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每次訓練 export 的指標變化：baseline 已達標，但場景可用性仍需要實機校正</a:t>
            </a:r>
            <a:endParaRPr lang="zh-TW" altLang="en-US" sz="1050" dirty="0"/>
          </a:p>
        </p:txBody>
      </p:sp>
      <p:sp>
        <p:nvSpPr>
          <p:cNvPr id="10" name="Chart card"/>
          <p:cNvSpPr/>
          <p:nvPr/>
        </p:nvSpPr>
        <p:spPr>
          <a:xfrm>
            <a:off x="685800" y="1325880"/>
            <a:ext cx="6900000" cy="4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8E1"/>
            </a:solidFill>
          </a:ln>
        </p:spPr>
        <p:txBody>
          <a:bodyPr wrap="square" lIns="90000" tIns="90000" rIns="90000" bIns="90000" rtlCol="0" anchor="top"/>
          <a:lstStyle/>
          <a:p>
            <a:pPr marL="0" indent="0">
              <a:buNone/>
            </a:pPr>
            <a:r>
              <a:rPr lang="zh-TW" altLang="en-US" sz="800" dirty="0">
                <a:solidFill>
                  <a:srgbClr val="1934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endParaRPr lang="zh-TW" altLang="en-US" sz="800" dirty="0"/>
          </a:p>
        </p:txBody>
      </p:sp>
      <p:pic>
        <p:nvPicPr>
          <p:cNvPr id="11" name="Accuracy trend 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30000"/>
            <a:ext cx="6400000" cy="3500000"/>
          </a:xfrm>
          <a:prstGeom prst="rect">
            <a:avLst/>
          </a:prstGeom>
        </p:spPr>
      </p:pic>
      <p:sp>
        <p:nvSpPr>
          <p:cNvPr id="20" name="Metric card 0"/>
          <p:cNvSpPr/>
          <p:nvPr/>
        </p:nvSpPr>
        <p:spPr>
          <a:xfrm>
            <a:off x="8001000" y="1330000"/>
            <a:ext cx="3300000" cy="9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8E1"/>
            </a:solidFill>
          </a:ln>
        </p:spPr>
        <p:txBody>
          <a:bodyPr wrap="square" lIns="90000" tIns="90000" rIns="90000" bIns="90000" rtlCol="0" anchor="top"/>
          <a:lstStyle/>
          <a:p>
            <a:pPr marL="0" indent="0">
              <a:buNone/>
            </a:pPr>
            <a:r>
              <a:rPr lang="zh-TW" altLang="en-US" sz="800" dirty="0">
                <a:solidFill>
                  <a:srgbClr val="1934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endParaRPr lang="zh-TW" altLang="en-US" sz="800" dirty="0"/>
          </a:p>
        </p:txBody>
      </p:sp>
      <p:sp>
        <p:nvSpPr>
          <p:cNvPr id="21" name="Metric num 0"/>
          <p:cNvSpPr/>
          <p:nvPr/>
        </p:nvSpPr>
        <p:spPr>
          <a:xfrm>
            <a:off x="8231000" y="1480000"/>
            <a:ext cx="1150000" cy="36000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op"/>
          <a:lstStyle/>
          <a:p>
            <a:pPr marL="0" indent="0">
              <a:buNone/>
            </a:pPr>
            <a:r>
              <a:rPr lang="zh-TW" altLang="en-US" sz="2100" dirty="0" b="1">
                <a:solidFill>
                  <a:srgbClr val="3CB3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85.6%</a:t>
            </a:r>
            <a:endParaRPr lang="zh-TW" altLang="en-US" sz="2100" dirty="0"/>
          </a:p>
        </p:txBody>
      </p:sp>
      <p:sp>
        <p:nvSpPr>
          <p:cNvPr id="22" name="Metric label 0"/>
          <p:cNvSpPr/>
          <p:nvPr/>
        </p:nvSpPr>
        <p:spPr>
          <a:xfrm>
            <a:off x="9441000" y="1490000"/>
            <a:ext cx="1700000" cy="30000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op"/>
          <a:lstStyle/>
          <a:p>
            <a:pPr marL="0" indent="0">
              <a:buNone/>
            </a:pPr>
            <a:r>
              <a:rPr lang="zh-TW" altLang="en-US" sz="930" dirty="0" b="1">
                <a:solidFill>
                  <a:srgbClr val="1934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Public baseline test top-1</a:t>
            </a:r>
            <a:endParaRPr lang="zh-TW" altLang="en-US" sz="930" dirty="0"/>
          </a:p>
        </p:txBody>
      </p:sp>
      <p:sp>
        <p:nvSpPr>
          <p:cNvPr id="23" name="Metric note 0"/>
          <p:cNvSpPr/>
          <p:nvPr/>
        </p:nvSpPr>
        <p:spPr>
          <a:xfrm>
            <a:off x="9441000" y="1830000"/>
            <a:ext cx="1700000" cy="26000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op"/>
          <a:lstStyle/>
          <a:p>
            <a:pPr marL="0" indent="0">
              <a:buNone/>
            </a:pPr>
            <a:r>
              <a:rPr lang="zh-TW" altLang="en-US" sz="760" dirty="0">
                <a:solidFill>
                  <a:srgbClr val="6C7A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公開資料 PoC 已達最低 85% 目標</a:t>
            </a:r>
            <a:endParaRPr lang="zh-TW" altLang="en-US" sz="760" dirty="0"/>
          </a:p>
        </p:txBody>
      </p:sp>
      <p:sp>
        <p:nvSpPr>
          <p:cNvPr id="24" name="Metric card 1"/>
          <p:cNvSpPr/>
          <p:nvPr/>
        </p:nvSpPr>
        <p:spPr>
          <a:xfrm>
            <a:off x="8001000" y="2590000"/>
            <a:ext cx="3300000" cy="9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8E1"/>
            </a:solidFill>
          </a:ln>
        </p:spPr>
        <p:txBody>
          <a:bodyPr wrap="square" lIns="90000" tIns="90000" rIns="90000" bIns="90000" rtlCol="0" anchor="top"/>
          <a:lstStyle/>
          <a:p>
            <a:pPr marL="0" indent="0">
              <a:buNone/>
            </a:pPr>
            <a:r>
              <a:rPr lang="zh-TW" altLang="en-US" sz="800" dirty="0">
                <a:solidFill>
                  <a:srgbClr val="1934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endParaRPr lang="zh-TW" altLang="en-US" sz="800" dirty="0"/>
          </a:p>
        </p:txBody>
      </p:sp>
      <p:sp>
        <p:nvSpPr>
          <p:cNvPr id="25" name="Metric num 1"/>
          <p:cNvSpPr/>
          <p:nvPr/>
        </p:nvSpPr>
        <p:spPr>
          <a:xfrm>
            <a:off x="8231000" y="2740000"/>
            <a:ext cx="1150000" cy="36000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op"/>
          <a:lstStyle/>
          <a:p>
            <a:pPr marL="0" indent="0">
              <a:buNone/>
            </a:pPr>
            <a:r>
              <a:rPr lang="zh-TW" altLang="en-US" sz="2100" dirty="0" b="1">
                <a:solidFill>
                  <a:srgbClr val="3D7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87.5%</a:t>
            </a:r>
            <a:endParaRPr lang="zh-TW" altLang="en-US" sz="2100" dirty="0"/>
          </a:p>
        </p:txBody>
      </p:sp>
      <p:sp>
        <p:nvSpPr>
          <p:cNvPr id="26" name="Metric label 1"/>
          <p:cNvSpPr/>
          <p:nvPr/>
        </p:nvSpPr>
        <p:spPr>
          <a:xfrm>
            <a:off x="9441000" y="2750000"/>
            <a:ext cx="1700000" cy="30000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op"/>
          <a:lstStyle/>
          <a:p>
            <a:pPr marL="0" indent="0">
              <a:buNone/>
            </a:pPr>
            <a:r>
              <a:rPr lang="zh-TW" altLang="en-US" sz="930" dirty="0" b="1">
                <a:solidFill>
                  <a:srgbClr val="1934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Hard-negative test top-1</a:t>
            </a:r>
            <a:endParaRPr lang="zh-TW" altLang="en-US" sz="930" dirty="0"/>
          </a:p>
        </p:txBody>
      </p:sp>
      <p:sp>
        <p:nvSpPr>
          <p:cNvPr id="27" name="Metric note 1"/>
          <p:cNvSpPr/>
          <p:nvPr/>
        </p:nvSpPr>
        <p:spPr>
          <a:xfrm>
            <a:off x="9441000" y="3090000"/>
            <a:ext cx="1700000" cy="26000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op"/>
          <a:lstStyle/>
          <a:p>
            <a:pPr marL="0" indent="0">
              <a:buNone/>
            </a:pPr>
            <a:r>
              <a:rPr lang="zh-TW" altLang="en-US" sz="760" dirty="0">
                <a:solidFill>
                  <a:srgbClr val="6C7A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準確率提升，但 false accept 仍偏高</a:t>
            </a:r>
            <a:endParaRPr lang="zh-TW" altLang="en-US" sz="760" dirty="0"/>
          </a:p>
        </p:txBody>
      </p:sp>
      <p:sp>
        <p:nvSpPr>
          <p:cNvPr id="28" name="Metric card 2"/>
          <p:cNvSpPr/>
          <p:nvPr/>
        </p:nvSpPr>
        <p:spPr>
          <a:xfrm>
            <a:off x="8001000" y="3850000"/>
            <a:ext cx="3300000" cy="9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8E1"/>
            </a:solidFill>
          </a:ln>
        </p:spPr>
        <p:txBody>
          <a:bodyPr wrap="square" lIns="90000" tIns="90000" rIns="90000" bIns="90000" rtlCol="0" anchor="top"/>
          <a:lstStyle/>
          <a:p>
            <a:pPr marL="0" indent="0">
              <a:buNone/>
            </a:pPr>
            <a:r>
              <a:rPr lang="zh-TW" altLang="en-US" sz="800" dirty="0">
                <a:solidFill>
                  <a:srgbClr val="1934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endParaRPr lang="zh-TW" altLang="en-US" sz="800" dirty="0"/>
          </a:p>
        </p:txBody>
      </p:sp>
      <p:sp>
        <p:nvSpPr>
          <p:cNvPr id="29" name="Metric num 2"/>
          <p:cNvSpPr/>
          <p:nvPr/>
        </p:nvSpPr>
        <p:spPr>
          <a:xfrm>
            <a:off x="8231000" y="4000000"/>
            <a:ext cx="1150000" cy="36000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op"/>
          <a:lstStyle/>
          <a:p>
            <a:pPr marL="0" indent="0">
              <a:buNone/>
            </a:pPr>
            <a:r>
              <a:rPr lang="zh-TW" altLang="en-US" sz="2100" dirty="0" b="1">
                <a:solidFill>
                  <a:srgbClr val="FFB8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87.8%</a:t>
            </a:r>
            <a:endParaRPr lang="zh-TW" altLang="en-US" sz="2100" dirty="0"/>
          </a:p>
        </p:txBody>
      </p:sp>
      <p:sp>
        <p:nvSpPr>
          <p:cNvPr id="30" name="Metric label 2"/>
          <p:cNvSpPr/>
          <p:nvPr/>
        </p:nvSpPr>
        <p:spPr>
          <a:xfrm>
            <a:off x="9441000" y="4010000"/>
            <a:ext cx="1700000" cy="30000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op"/>
          <a:lstStyle/>
          <a:p>
            <a:pPr marL="0" indent="0">
              <a:buNone/>
            </a:pPr>
            <a:r>
              <a:rPr lang="zh-TW" altLang="en-US" sz="930" dirty="0" b="1">
                <a:solidFill>
                  <a:srgbClr val="1934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tune best val top-1</a:t>
            </a:r>
            <a:endParaRPr lang="zh-TW" altLang="en-US" sz="930" dirty="0"/>
          </a:p>
        </p:txBody>
      </p:sp>
      <p:sp>
        <p:nvSpPr>
          <p:cNvPr id="31" name="Metric note 2"/>
          <p:cNvSpPr/>
          <p:nvPr/>
        </p:nvSpPr>
        <p:spPr>
          <a:xfrm>
            <a:off x="9441000" y="4350000"/>
            <a:ext cx="1700000" cy="26000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op"/>
          <a:lstStyle/>
          <a:p>
            <a:pPr marL="0" indent="0">
              <a:buNone/>
            </a:pPr>
            <a:r>
              <a:rPr lang="zh-TW" altLang="en-US" sz="760" dirty="0">
                <a:solidFill>
                  <a:srgbClr val="6C7A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Demo-only 模型，目標是展示通過率</a:t>
            </a:r>
            <a:endParaRPr lang="zh-TW" altLang="en-US" sz="760" dirty="0"/>
          </a:p>
        </p:txBody>
      </p:sp>
      <p:sp>
        <p:nvSpPr>
          <p:cNvPr id="35" name="Chart note"/>
          <p:cNvSpPr/>
          <p:nvPr/>
        </p:nvSpPr>
        <p:spPr>
          <a:xfrm>
            <a:off x="8001000" y="5200000"/>
            <a:ext cx="3300000" cy="520000"/>
          </a:xfrm>
          <a:prstGeom prst="roundRect">
            <a:avLst/>
          </a:prstGeom>
          <a:solidFill>
            <a:srgbClr val="EAF5EF"/>
          </a:solidFill>
          <a:ln w="12700">
            <a:solidFill>
              <a:srgbClr val="CDE7D9"/>
            </a:solidFill>
          </a:ln>
        </p:spPr>
        <p:txBody>
          <a:bodyPr wrap="square" lIns="100000" tIns="100000" rIns="100000" bIns="100000" rtlCol="0" anchor="ctr"/>
          <a:lstStyle/>
          <a:p>
            <a:pPr marL="0" indent="0">
              <a:buNone/>
            </a:pPr>
            <a:r>
              <a:rPr lang="zh-TW" altLang="en-US" sz="760" dirty="0">
                <a:solidFill>
                  <a:srgbClr val="1934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折線圖比較的是「訓練版本」而非同一模型逐 epoch 曲線；demo 指標不可解讀為正式部署準確率。</a:t>
            </a:r>
            <a:endParaRPr lang="zh-TW" altLang="en-US" sz="760" dirty="0"/>
          </a:p>
        </p:txBody>
      </p:sp>
      <p:sp>
        <p:nvSpPr>
          <p:cNvPr id="50" name="Footer"/>
          <p:cNvSpPr/>
          <p:nvPr/>
        </p:nvSpPr>
        <p:spPr>
          <a:xfrm>
            <a:off x="548640" y="6547104"/>
            <a:ext cx="3657600" cy="18288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op"/>
          <a:lstStyle/>
          <a:p>
            <a:pPr marL="0" indent="0">
              <a:buNone/>
            </a:pPr>
            <a:r>
              <a:rPr lang="zh-TW" altLang="en-US" sz="800" dirty="0">
                <a:solidFill>
                  <a:srgbClr val="9AA8A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AI-Enabled Emotional GarbageCane Demo</a:t>
            </a:r>
            <a:endParaRPr lang="zh-TW" alt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15 Finding">
    <p:bg>
      <p:bgPr>
        <a:solidFill>
          <a:srgbClr val="F6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84048"/>
            <a:ext cx="10515600" cy="41148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op"/>
          <a:lstStyle/>
          <a:p>
            <a:pPr marL="0" indent="0">
              <a:buNone/>
            </a:pPr>
            <a:r>
              <a:rPr lang="zh-TW" altLang="en-US" sz="2600" dirty="0" b="1">
                <a:solidFill>
                  <a:srgbClr val="1934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05-3｜L515 實機發現與 Demo 調校</a:t>
            </a:r>
            <a:endParaRPr lang="zh-TW" altLang="en-US" sz="2600" dirty="0"/>
          </a:p>
        </p:txBody>
      </p:sp>
      <p:sp>
        <p:nvSpPr>
          <p:cNvPr id="3" name="Subtitle"/>
          <p:cNvSpPr/>
          <p:nvPr/>
        </p:nvSpPr>
        <p:spPr>
          <a:xfrm>
            <a:off x="566928" y="841248"/>
            <a:ext cx="10800000" cy="256032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op"/>
          <a:lstStyle/>
          <a:p>
            <a:pPr marL="0" indent="0">
              <a:buNone/>
            </a:pPr>
            <a:r>
              <a:rPr lang="zh-TW" altLang="en-US" sz="1050" dirty="0">
                <a:solidFill>
                  <a:srgbClr val="6C7A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實拍畫面暴露開源資料沒有涵蓋的 label / domain gap，讓模型訓練方向更明確</a:t>
            </a:r>
            <a:endParaRPr lang="zh-TW" altLang="en-US" sz="1050" dirty="0"/>
          </a:p>
        </p:txBody>
      </p:sp>
      <p:sp>
        <p:nvSpPr>
          <p:cNvPr id="10" name="Image card"/>
          <p:cNvSpPr/>
          <p:nvPr/>
        </p:nvSpPr>
        <p:spPr>
          <a:xfrm>
            <a:off x="685800" y="1340000"/>
            <a:ext cx="4800000" cy="39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8E1"/>
            </a:solidFill>
          </a:ln>
        </p:spPr>
        <p:txBody>
          <a:bodyPr wrap="square" lIns="90000" tIns="90000" rIns="90000" bIns="90000" rtlCol="0" anchor="top"/>
          <a:lstStyle/>
          <a:p>
            <a:pPr marL="0" indent="0">
              <a:buNone/>
            </a:pPr>
            <a:r>
              <a:rPr lang="zh-TW" altLang="en-US" sz="800" dirty="0">
                <a:solidFill>
                  <a:srgbClr val="1934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endParaRPr lang="zh-TW" altLang="en-US" sz="800" dirty="0"/>
          </a:p>
        </p:txBody>
      </p:sp>
      <p:pic>
        <p:nvPicPr>
          <p:cNvPr id="11" name="L515 snap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000" y="1600000"/>
            <a:ext cx="4180000" cy="3135000"/>
          </a:xfrm>
          <a:prstGeom prst="rect">
            <a:avLst/>
          </a:prstGeom>
        </p:spPr>
      </p:pic>
      <p:sp>
        <p:nvSpPr>
          <p:cNvPr id="12" name="Image caption"/>
          <p:cNvSpPr/>
          <p:nvPr/>
        </p:nvSpPr>
        <p:spPr>
          <a:xfrm>
            <a:off x="1000000" y="4860000"/>
            <a:ext cx="4200000" cy="30000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op"/>
          <a:lstStyle/>
          <a:p>
            <a:pPr marL="0" indent="0">
              <a:buNone/>
            </a:pPr>
            <a:r>
              <a:rPr lang="zh-TW" altLang="en-US" sz="850" dirty="0">
                <a:solidFill>
                  <a:srgbClr val="6C7A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L515 RGB snapshot：糖果包裝紙 / flexible wrapper</a:t>
            </a:r>
            <a:endParaRPr lang="zh-TW" altLang="en-US" sz="850" dirty="0"/>
          </a:p>
        </p:txBody>
      </p:sp>
      <p:sp>
        <p:nvSpPr>
          <p:cNvPr id="20" name="Insight card"/>
          <p:cNvSpPr/>
          <p:nvPr/>
        </p:nvSpPr>
        <p:spPr>
          <a:xfrm>
            <a:off x="5900000" y="1340000"/>
            <a:ext cx="5550000" cy="39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8E1"/>
            </a:solidFill>
          </a:ln>
        </p:spPr>
        <p:txBody>
          <a:bodyPr wrap="square" lIns="90000" tIns="90000" rIns="90000" bIns="90000" rtlCol="0" anchor="top"/>
          <a:lstStyle/>
          <a:p>
            <a:pPr marL="0" indent="0">
              <a:buNone/>
            </a:pPr>
            <a:r>
              <a:rPr lang="zh-TW" altLang="en-US" sz="800" dirty="0">
                <a:solidFill>
                  <a:srgbClr val="1934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endParaRPr lang="zh-TW" altLang="en-US" sz="800" dirty="0"/>
          </a:p>
        </p:txBody>
      </p:sp>
      <p:sp>
        <p:nvSpPr>
          <p:cNvPr id="21" name="Insight head"/>
          <p:cNvSpPr/>
          <p:nvPr/>
        </p:nvSpPr>
        <p:spPr>
          <a:xfrm>
            <a:off x="6220000" y="1580000"/>
            <a:ext cx="5000000" cy="36000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op"/>
          <a:lstStyle/>
          <a:p>
            <a:pPr marL="0" indent="0">
              <a:buNone/>
            </a:pPr>
            <a:r>
              <a:rPr lang="zh-TW" altLang="en-US" sz="1500" dirty="0" b="1">
                <a:solidFill>
                  <a:srgbClr val="1934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模型失誤不是單純調 threshold 能解決</a:t>
            </a:r>
            <a:endParaRPr lang="zh-TW" altLang="en-US" sz="1500" dirty="0"/>
          </a:p>
        </p:txBody>
      </p:sp>
      <p:sp>
        <p:nvSpPr>
          <p:cNvPr id="22" name="Dot 0"/>
          <p:cNvSpPr/>
          <p:nvPr/>
        </p:nvSpPr>
        <p:spPr>
          <a:xfrm>
            <a:off x="6260000" y="2210000"/>
            <a:ext cx="180000" cy="180000"/>
          </a:xfrm>
          <a:prstGeom prst="ellipse">
            <a:avLst/>
          </a:prstGeom>
          <a:solidFill>
            <a:srgbClr val="3CB371"/>
          </a:solidFill>
          <a:ln w="0">
            <a:solidFill>
              <a:srgbClr val="FFFFFF">
                <a:alpha val="0"/>
              </a:srgbClr>
            </a:solidFill>
          </a:ln>
        </p:spPr>
        <p:txBody>
          <a:bodyPr wrap="square" lIns="90000" tIns="90000" rIns="90000" bIns="90000" rtlCol="0" anchor="top"/>
          <a:lstStyle/>
          <a:p>
            <a:pPr marL="0" indent="0">
              <a:buNone/>
            </a:pPr>
            <a:r>
              <a:rPr lang="zh-TW" altLang="en-US" sz="800" dirty="0">
                <a:solidFill>
                  <a:srgbClr val="1934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endParaRPr lang="zh-TW" altLang="en-US" sz="800" dirty="0"/>
          </a:p>
        </p:txBody>
      </p:sp>
      <p:sp>
        <p:nvSpPr>
          <p:cNvPr id="23" name="Item head 0"/>
          <p:cNvSpPr/>
          <p:nvPr/>
        </p:nvSpPr>
        <p:spPr>
          <a:xfrm>
            <a:off x="6550000" y="2160000"/>
            <a:ext cx="4500000" cy="23000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op"/>
          <a:lstStyle/>
          <a:p>
            <a:pPr marL="0" indent="0">
              <a:buNone/>
            </a:pPr>
            <a:r>
              <a:rPr lang="zh-TW" altLang="en-US" sz="1050" dirty="0" b="1">
                <a:solidFill>
                  <a:srgbClr val="1934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高信心 false reject</a:t>
            </a:r>
            <a:endParaRPr lang="zh-TW" altLang="en-US" sz="1050" dirty="0"/>
          </a:p>
        </p:txBody>
      </p:sp>
      <p:sp>
        <p:nvSpPr>
          <p:cNvPr id="24" name="Item body 0"/>
          <p:cNvSpPr/>
          <p:nvPr/>
        </p:nvSpPr>
        <p:spPr>
          <a:xfrm>
            <a:off x="6550000" y="2420000"/>
            <a:ext cx="4500000" cy="38000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op"/>
          <a:lstStyle/>
          <a:p>
            <a:pPr marL="0" indent="0">
              <a:buNone/>
            </a:pPr>
            <a:r>
              <a:rPr lang="zh-TW" altLang="en-US" sz="820" dirty="0">
                <a:solidFill>
                  <a:srgbClr val="6C7A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Baseline 與 hard-negative 在同一張 L515 圖都判 reject，confidence 約 0.99。</a:t>
            </a:r>
            <a:endParaRPr lang="zh-TW" altLang="en-US" sz="820" dirty="0"/>
          </a:p>
        </p:txBody>
      </p:sp>
      <p:sp>
        <p:nvSpPr>
          <p:cNvPr id="26" name="Dot 1"/>
          <p:cNvSpPr/>
          <p:nvPr/>
        </p:nvSpPr>
        <p:spPr>
          <a:xfrm>
            <a:off x="6260000" y="3040000"/>
            <a:ext cx="180000" cy="180000"/>
          </a:xfrm>
          <a:prstGeom prst="ellipse">
            <a:avLst/>
          </a:prstGeom>
          <a:solidFill>
            <a:srgbClr val="3D7EFF"/>
          </a:solidFill>
          <a:ln w="0">
            <a:solidFill>
              <a:srgbClr val="FFFFFF">
                <a:alpha val="0"/>
              </a:srgbClr>
            </a:solidFill>
          </a:ln>
        </p:spPr>
        <p:txBody>
          <a:bodyPr wrap="square" lIns="90000" tIns="90000" rIns="90000" bIns="90000" rtlCol="0" anchor="top"/>
          <a:lstStyle/>
          <a:p>
            <a:pPr marL="0" indent="0">
              <a:buNone/>
            </a:pPr>
            <a:r>
              <a:rPr lang="zh-TW" altLang="en-US" sz="800" dirty="0">
                <a:solidFill>
                  <a:srgbClr val="1934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endParaRPr lang="zh-TW" altLang="en-US" sz="800" dirty="0"/>
          </a:p>
        </p:txBody>
      </p:sp>
      <p:sp>
        <p:nvSpPr>
          <p:cNvPr id="27" name="Item head 1"/>
          <p:cNvSpPr/>
          <p:nvPr/>
        </p:nvSpPr>
        <p:spPr>
          <a:xfrm>
            <a:off x="6550000" y="2990000"/>
            <a:ext cx="4500000" cy="23000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op"/>
          <a:lstStyle/>
          <a:p>
            <a:pPr marL="0" indent="0">
              <a:buNone/>
            </a:pPr>
            <a:r>
              <a:rPr lang="zh-TW" altLang="en-US" sz="1050" dirty="0" b="1">
                <a:solidFill>
                  <a:srgbClr val="1934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標籤政策需拆清楚</a:t>
            </a:r>
            <a:endParaRPr lang="zh-TW" altLang="en-US" sz="1050" dirty="0"/>
          </a:p>
        </p:txBody>
      </p:sp>
      <p:sp>
        <p:nvSpPr>
          <p:cNvPr id="28" name="Item body 1"/>
          <p:cNvSpPr/>
          <p:nvPr/>
        </p:nvSpPr>
        <p:spPr>
          <a:xfrm>
            <a:off x="6550000" y="3250000"/>
            <a:ext cx="4500000" cy="38000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op"/>
          <a:lstStyle/>
          <a:p>
            <a:pPr marL="0" indent="0">
              <a:buNone/>
            </a:pPr>
            <a:r>
              <a:rPr lang="zh-TW" altLang="en-US" sz="820" dirty="0">
                <a:solidFill>
                  <a:srgbClr val="6C7A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糖果包裝紙、零食袋、髒污軟塑膠若屬一般垃圾，應標為 accept；可回收硬塑膠仍是 reject。</a:t>
            </a:r>
            <a:endParaRPr lang="zh-TW" altLang="en-US" sz="820" dirty="0"/>
          </a:p>
        </p:txBody>
      </p:sp>
      <p:sp>
        <p:nvSpPr>
          <p:cNvPr id="30" name="Dot 2"/>
          <p:cNvSpPr/>
          <p:nvPr/>
        </p:nvSpPr>
        <p:spPr>
          <a:xfrm>
            <a:off x="6260000" y="3870000"/>
            <a:ext cx="180000" cy="180000"/>
          </a:xfrm>
          <a:prstGeom prst="ellipse">
            <a:avLst/>
          </a:prstGeom>
          <a:solidFill>
            <a:srgbClr val="FFB84D"/>
          </a:solidFill>
          <a:ln w="0">
            <a:solidFill>
              <a:srgbClr val="FFFFFF">
                <a:alpha val="0"/>
              </a:srgbClr>
            </a:solidFill>
          </a:ln>
        </p:spPr>
        <p:txBody>
          <a:bodyPr wrap="square" lIns="90000" tIns="90000" rIns="90000" bIns="90000" rtlCol="0" anchor="top"/>
          <a:lstStyle/>
          <a:p>
            <a:pPr marL="0" indent="0">
              <a:buNone/>
            </a:pPr>
            <a:r>
              <a:rPr lang="zh-TW" altLang="en-US" sz="800" dirty="0">
                <a:solidFill>
                  <a:srgbClr val="1934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endParaRPr lang="zh-TW" altLang="en-US" sz="800" dirty="0"/>
          </a:p>
        </p:txBody>
      </p:sp>
      <p:sp>
        <p:nvSpPr>
          <p:cNvPr id="31" name="Item head 2"/>
          <p:cNvSpPr/>
          <p:nvPr/>
        </p:nvSpPr>
        <p:spPr>
          <a:xfrm>
            <a:off x="6550000" y="3820000"/>
            <a:ext cx="4500000" cy="23000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op"/>
          <a:lstStyle/>
          <a:p>
            <a:pPr marL="0" indent="0">
              <a:buNone/>
            </a:pPr>
            <a:r>
              <a:rPr lang="zh-TW" altLang="en-US" sz="1050" dirty="0" b="1">
                <a:solidFill>
                  <a:srgbClr val="1934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profile 分離</a:t>
            </a:r>
            <a:endParaRPr lang="zh-TW" altLang="en-US" sz="1050" dirty="0"/>
          </a:p>
        </p:txBody>
      </p:sp>
      <p:sp>
        <p:nvSpPr>
          <p:cNvPr id="32" name="Item body 2"/>
          <p:cNvSpPr/>
          <p:nvPr/>
        </p:nvSpPr>
        <p:spPr>
          <a:xfrm>
            <a:off x="6550000" y="4080000"/>
            <a:ext cx="4500000" cy="38000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op"/>
          <a:lstStyle/>
          <a:p>
            <a:pPr marL="0" indent="0">
              <a:buNone/>
            </a:pPr>
            <a:r>
              <a:rPr lang="zh-TW" altLang="en-US" sz="820" dirty="0">
                <a:solidFill>
                  <a:srgbClr val="6C7A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accept recall model 使用 0.50 gate，且展示物需 3 張中至少 2 張判 accept。</a:t>
            </a:r>
            <a:endParaRPr lang="zh-TW" altLang="en-US" sz="820" dirty="0"/>
          </a:p>
        </p:txBody>
      </p:sp>
      <p:sp>
        <p:nvSpPr>
          <p:cNvPr id="40" name="Next step callout"/>
          <p:cNvSpPr/>
          <p:nvPr/>
        </p:nvSpPr>
        <p:spPr>
          <a:xfrm>
            <a:off x="920000" y="5600000"/>
            <a:ext cx="10350000" cy="560000"/>
          </a:xfrm>
          <a:prstGeom prst="roundRect">
            <a:avLst/>
          </a:prstGeom>
          <a:solidFill>
            <a:srgbClr val="EAF5EF"/>
          </a:solidFill>
          <a:ln w="12700">
            <a:solidFill>
              <a:srgbClr val="CDE7D9"/>
            </a:solidFill>
          </a:ln>
        </p:spPr>
        <p:txBody>
          <a:bodyPr wrap="square" lIns="120000" tIns="120000" rIns="120000" bIns="120000" rtlCol="0" anchor="ctr"/>
          <a:lstStyle/>
          <a:p>
            <a:pPr marL="0" indent="0">
              <a:buNone/>
            </a:pPr>
            <a:r>
              <a:rPr lang="zh-TW" altLang="en-US" sz="1120" dirty="0" b="1">
                <a:solidFill>
                  <a:srgbClr val="1934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正式版下一步：補拍 L515 桶口角度 accept / reject 樣本，建立獨立 validation set，再重新訓練。</a:t>
            </a:r>
            <a:endParaRPr lang="zh-TW" altLang="en-US" sz="1120" dirty="0"/>
          </a:p>
        </p:txBody>
      </p:sp>
      <p:sp>
        <p:nvSpPr>
          <p:cNvPr id="50" name="Footer"/>
          <p:cNvSpPr/>
          <p:nvPr/>
        </p:nvSpPr>
        <p:spPr>
          <a:xfrm>
            <a:off x="548640" y="6547104"/>
            <a:ext cx="3657600" cy="18288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op"/>
          <a:lstStyle/>
          <a:p>
            <a:pPr marL="0" indent="0">
              <a:buNone/>
            </a:pPr>
            <a:r>
              <a:rPr lang="zh-TW" altLang="en-US" sz="800" dirty="0">
                <a:solidFill>
                  <a:srgbClr val="9AA8A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AI-Enabled Emotional GarbageCane Demo</a:t>
            </a:r>
            <a:endParaRPr lang="zh-TW" alt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285</ns0:TotalTime>
  <ns0:Words>850</ns0:Words>
  <ns0:Application>Microsoft Office PowerPoint</ns0:Application>
  <ns0:PresentationFormat>寬螢幕</ns0:PresentationFormat>
  <ns0:Paragraphs>181</ns0:Paragraphs>
  <ns0:Slides>15</ns0:Slides>
  <ns0:Notes>9</ns0:Notes>
  <ns0:HiddenSlides>0</ns0:HiddenSlides>
  <ns0:MMClips>0</ns0:MMClips>
  <ns0:ScaleCrop>false</ns0:ScaleCrop>
  <ns0:HeadingPairs>
    <ns1:vector size="6" baseType="variant">
      <ns1:variant>
        <ns1:lpstr>使用字型</ns1:lpstr>
      </ns1:variant>
      <ns1:variant>
        <ns1:i4>2</ns1:i4>
      </ns1:variant>
      <ns1:variant>
        <ns1:lpstr>佈景主題</ns1:lpstr>
      </ns1:variant>
      <ns1:variant>
        <ns1:i4>1</ns1:i4>
      </ns1:variant>
      <ns1:variant>
        <ns1:lpstr>投影片標題</ns1:lpstr>
      </ns1:variant>
      <ns1:variant>
        <ns1:i4>13</ns1:i4>
      </ns1:variant>
    </ns1:vector>
  </ns0:HeadingPairs>
  <ns0:TitlesOfParts>
    <ns1:vector size="16" baseType="lpstr">
      <ns1:lpstr>Microsoft JhengHei</ns1:lpstr>
      <ns1:lpstr>Arial</ns1:lpstr>
      <ns1:lpstr>Office Theme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</ns1:vector>
  </ns0:TitlesOfParts>
  <ns0:Company>AI-Enabled-Emotional-GarbageCane</ns0:Company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情緒垃圾筒 Demo Presentation</dc:title>
  <dc:subject>AI 情緒垃圾筒展示簡報</dc:subject>
  <dc:creator>OpenAI</dc:creator>
  <cp:lastModifiedBy>林欣螢</cp:lastModifiedBy>
  <cp:revision>5</cp:revision>
  <dcterms:created xsi:type="dcterms:W3CDTF">2026-06-08T02:47:05Z</dcterms:created>
  <dcterms:modified xsi:type="dcterms:W3CDTF">2026-06-08T19:31:28Z</dcterms:modified>
</cp:coreProperties>
</file>
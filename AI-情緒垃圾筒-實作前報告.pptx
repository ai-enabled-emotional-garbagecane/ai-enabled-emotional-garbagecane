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A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7315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情緒垃圾筒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457200" y="274320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4DCE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因為海龜每天都在被吸管攻擊。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實作前報告  |  3 人團隊  |  6 週時程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132F3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48691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一個會用組員聲音吐槽你的智慧垃圾桶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問題背景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192024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1B9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1270萬噸/年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塑膠流入海洋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606040" y="105156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606040" y="1051560"/>
            <a:ext cx="1920240" cy="54864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0" name="Text 8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55-58%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60604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台灣回收率（表面）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54880" y="1051560"/>
            <a:ext cx="192024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4" name="Text 12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F77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17-25%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75488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MRF 污染率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051560"/>
            <a:ext cx="19202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903720" y="1051560"/>
            <a:ext cx="1920240" cy="54864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8" name="Text 16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E6394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30億支/年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6903720" y="19202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台灣塑膠吸管用量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880360"/>
            <a:ext cx="73152" cy="173736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2971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核心洞察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77240" y="333756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海洋塑膠是高集中度、可在源頭攔截的工程問題。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吸管/海龜是高擴散性符號 → 「情緒回饋」路線有傳播學支撐。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後段 MRF 污染放大效應強 → 「在投入瞬間擋下」比事後更有效。</a:t>
            </a:r>
            <a:endParaRPr lang="en-US" sz="13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台灣回收率高但家戶端仍有缺口 → 校園是好的部署場景。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相關工作 — 競品都在做什麼？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Bin-e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波蘭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31520" y="1691640"/>
            <a:ext cx="2057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自動辨識分流四類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92%+ 準確率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雲端後台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436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回饋：中性 + 教育廣告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91840" y="10058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9184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TrashBot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291840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美國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566160" y="1691640"/>
            <a:ext cx="2057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機械手臂分流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90-95% 準確率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大螢幕顯示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回饋：中性 + 正向鼓勵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005840"/>
            <a:ext cx="260604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126480" y="109728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B1D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Oscar Sort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126480" y="141732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加拿大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691640"/>
            <a:ext cx="2057400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0" name="Text 18"/>
          <p:cNvSpPr/>
          <p:nvPr/>
        </p:nvSpPr>
        <p:spPr>
          <a:xfrm>
            <a:off x="6263640" y="178308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螢幕指示丟哪桶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96% 分類率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加裝在現有桶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263640" y="26060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回饋：中性 + 指示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128016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3703320"/>
            <a:ext cx="457200" cy="45720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371600" y="356616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缺口：沒有任何方案使用「幽默 roast」「負向情緒 nudge」「同儕個人化語音」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371600" y="406908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辨識準確率已高度擁擠（90-97%），邊際效益低。本專題的空白在互動層 / 情緒層。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我們的切入點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77F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一個會用組員聲音吐槽你的智慧垃圾桶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1417320"/>
            <a:ext cx="7863840" cy="960120"/>
          </a:xfrm>
          <a:prstGeom prst="rect">
            <a:avLst/>
          </a:prstGeom>
          <a:solidFill>
            <a:srgbClr val="132F3E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6459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490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同儕的聲音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645920" y="1856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自訓 TTS 語音模型，複製組員聲線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029200" y="14904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製造熟悉感與社交存在感（parasocial interaction）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40080" y="2560320"/>
            <a:ext cx="7863840" cy="960120"/>
          </a:xfrm>
          <a:prstGeom prst="rect">
            <a:avLst/>
          </a:prstGeom>
          <a:solidFill>
            <a:srgbClr val="132F3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78892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645920" y="2633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幽默 Roast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645920" y="2999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不是嚴肅警告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26334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降低心理抗拒、提升傳播性與記憶點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40080" y="3703320"/>
            <a:ext cx="7863840" cy="960120"/>
          </a:xfrm>
          <a:prstGeom prst="rect">
            <a:avLst/>
          </a:prstGeom>
          <a:solidFill>
            <a:srgbClr val="132F3E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931920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645920" y="377647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即時觸發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645920" y="414223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不是事後通知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029200" y="3776472"/>
            <a:ext cx="3200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全自動化 — 靠近即偵測、丟入即判定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640080" y="457200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學術競品（Bin-e / TrashBot / Oscar）與學術文獻中，此路線皆為空白。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行為設計理論支撐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73152" cy="164592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115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 Behavior Model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8580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Fogg 2009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85800" y="1783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行為 = 動機 + 能力 + 觸發。即時語音回饋是高效的 Trigger。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100584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005840"/>
            <a:ext cx="73152" cy="16459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1556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Aversive Affect 設計策略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46304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Comber &amp; Thieme 2013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負向情緒（含羞愧與不適）是打破壞習慣的正當設計工具。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92608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926080"/>
            <a:ext cx="73152" cy="164592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6" name="Text 14"/>
          <p:cNvSpPr/>
          <p:nvPr/>
        </p:nvSpPr>
        <p:spPr>
          <a:xfrm>
            <a:off x="685800" y="3035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幽默降低心理抗拒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8580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Skurka et al. 2018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" y="3703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幽默訴求比恐懼訴求更能降低抗拒、提升參與度。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09160" y="2926080"/>
            <a:ext cx="39776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09160" y="2926080"/>
            <a:ext cx="73152" cy="16459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3035808"/>
            <a:ext cx="3520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Emoticon-Bin 效應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3383280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Berengueres et al. 2013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37760" y="3703320"/>
            <a:ext cx="3520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加入聲音/表情的遊戲化垃圾桶，回收率提升 3 倍。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 — 全自動化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三模組同機運行於 Jetson AGX Orin Nano，透過 multiprocessing.Queue 通訊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417320"/>
            <a:ext cx="228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17320"/>
            <a:ext cx="2286000" cy="54864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740" y="1600200"/>
            <a:ext cx="502920" cy="502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Firmware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59436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Depth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距離感測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燈號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74320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1" name="Text 8"/>
          <p:cNvSpPr/>
          <p:nvPr/>
        </p:nvSpPr>
        <p:spPr>
          <a:xfrm>
            <a:off x="274320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q_detected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566160" y="1417320"/>
            <a:ext cx="228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566160" y="1417320"/>
            <a:ext cx="2286000" cy="54864"/>
          </a:xfrm>
          <a:prstGeom prst="rect">
            <a:avLst/>
          </a:prstGeom>
          <a:solidFill>
            <a:srgbClr val="1B9AAA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7700" y="160020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6616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Vision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370332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RGB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推論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分類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5852160" y="2103120"/>
            <a:ext cx="822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1B9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800" dirty="0"/>
          </a:p>
        </p:txBody>
      </p:sp>
      <p:sp>
        <p:nvSpPr>
          <p:cNvPr id="18" name="Text 14"/>
          <p:cNvSpPr/>
          <p:nvPr/>
        </p:nvSpPr>
        <p:spPr>
          <a:xfrm>
            <a:off x="5852160" y="251460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q_result</a:t>
            </a:r>
            <a:endParaRPr lang="en-US" sz="900" dirty="0"/>
          </a:p>
        </p:txBody>
      </p:sp>
      <p:sp>
        <p:nvSpPr>
          <p:cNvPr id="19" name="Shape 15"/>
          <p:cNvSpPr/>
          <p:nvPr/>
        </p:nvSpPr>
        <p:spPr>
          <a:xfrm>
            <a:off x="6675120" y="1417320"/>
            <a:ext cx="228600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675120" y="1417320"/>
            <a:ext cx="2286000" cy="54864"/>
          </a:xfrm>
          <a:prstGeom prst="rect">
            <a:avLst/>
          </a:prstGeom>
          <a:solidFill>
            <a:srgbClr val="F77F00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66660" y="160020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675120" y="2194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1A1A2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</a:t>
            </a:r>
            <a:endParaRPr lang="en-US" sz="1700" dirty="0"/>
          </a:p>
        </p:txBody>
      </p:sp>
      <p:sp>
        <p:nvSpPr>
          <p:cNvPr id="23" name="Text 18"/>
          <p:cNvSpPr/>
          <p:nvPr/>
        </p:nvSpPr>
        <p:spPr>
          <a:xfrm>
            <a:off x="6812280" y="2560320"/>
            <a:ext cx="2011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狀態機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Roast 語音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面板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事件紀錄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57200" y="3977640"/>
            <a:ext cx="8229600" cy="86868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25" name="Text 20"/>
          <p:cNvSpPr/>
          <p:nvPr/>
        </p:nvSpPr>
        <p:spPr>
          <a:xfrm>
            <a:off x="457200" y="397764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人靠近  →  D435 偵測  →  攝影機捕捉  →  AI 判定  →  自動播語音  →  紀錄事件</a:t>
            </a:r>
            <a:endParaRPr lang="en-US" sz="1400" dirty="0"/>
          </a:p>
        </p:txBody>
      </p:sp>
      <p:sp>
        <p:nvSpPr>
          <p:cNvPr id="26" name="Text 21"/>
          <p:cNvSpPr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全程零按鈕、零蓋子、零人工介入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系統架構圖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474720" y="77724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1A3A4A"/>
          </a:solidFill>
          <a:ln w="25400">
            <a:solidFill>
              <a:srgbClr val="1B9AA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11880" y="868680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069080" y="8412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D435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069080" y="109728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RGB-D Camera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306324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320040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6D6A0"/>
                </a:solidFill>
              </a:rPr>
              <a:t>▼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57800" y="160020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RGB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5394960" y="1783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B9AAA"/>
                </a:solidFill>
              </a:rPr>
              <a:t>▼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365760" y="2103120"/>
            <a:ext cx="8412480" cy="1508760"/>
          </a:xfrm>
          <a:prstGeom prst="roundRect">
            <a:avLst>
              <a:gd name="adj" fmla="val 7273"/>
            </a:avLst>
          </a:prstGeom>
          <a:solidFill>
            <a:srgbClr val="0E2A36"/>
          </a:solidFill>
          <a:ln w="12700">
            <a:solidFill>
              <a:srgbClr val="C4DCE8"/>
            </a:solidFill>
            <a:prstDash val="dash"/>
          </a:ln>
        </p:spPr>
      </p:sp>
      <p:sp>
        <p:nvSpPr>
          <p:cNvPr id="13" name="Text 10"/>
          <p:cNvSpPr/>
          <p:nvPr/>
        </p:nvSpPr>
        <p:spPr>
          <a:xfrm>
            <a:off x="548640" y="212140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AGX Orin Nano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23774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A3A4A"/>
          </a:solidFill>
          <a:ln w="25400">
            <a:solidFill>
              <a:srgbClr val="06D6A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2514600"/>
            <a:ext cx="320040" cy="32004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430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Firmware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7772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Depth 距離感測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7772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燈號控制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88920" y="2743200"/>
            <a:ext cx="548640" cy="274320"/>
          </a:xfrm>
          <a:prstGeom prst="rect">
            <a:avLst>
              <a:gd name="adj" fmla="val 13333"/>
            </a:avLst>
          </a:prstGeom>
          <a:solidFill>
            <a:srgbClr val="06D6A0"/>
          </a:solidFill>
          <a:ln/>
        </p:spPr>
      </p:sp>
      <p:sp>
        <p:nvSpPr>
          <p:cNvPr id="20" name="Text 16"/>
          <p:cNvSpPr/>
          <p:nvPr/>
        </p:nvSpPr>
        <p:spPr>
          <a:xfrm>
            <a:off x="278892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2743200" y="3035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q_detected</a:t>
            </a:r>
            <a:endParaRPr lang="en-US" sz="700" dirty="0"/>
          </a:p>
        </p:txBody>
      </p:sp>
      <p:sp>
        <p:nvSpPr>
          <p:cNvPr id="22" name="Shape 18"/>
          <p:cNvSpPr/>
          <p:nvPr/>
        </p:nvSpPr>
        <p:spPr>
          <a:xfrm>
            <a:off x="3383280" y="23774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A3A4A"/>
          </a:solidFill>
          <a:ln w="25400">
            <a:solidFill>
              <a:srgbClr val="1B9AAA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0440" y="2514600"/>
            <a:ext cx="320040" cy="32004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8862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</a:t>
            </a:r>
            <a:endParaRPr lang="en-US" sz="1400" dirty="0"/>
          </a:p>
        </p:txBody>
      </p:sp>
      <p:sp>
        <p:nvSpPr>
          <p:cNvPr id="25" name="Text 20"/>
          <p:cNvSpPr/>
          <p:nvPr/>
        </p:nvSpPr>
        <p:spPr>
          <a:xfrm>
            <a:off x="35204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RGB → YOLOv8n</a:t>
            </a:r>
            <a:endParaRPr lang="en-US" sz="1000" dirty="0"/>
          </a:p>
        </p:txBody>
      </p:sp>
      <p:sp>
        <p:nvSpPr>
          <p:cNvPr id="26" name="Text 21"/>
          <p:cNvSpPr/>
          <p:nvPr/>
        </p:nvSpPr>
        <p:spPr>
          <a:xfrm>
            <a:off x="35204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分類 (accept/reject)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5532120" y="2743200"/>
            <a:ext cx="548640" cy="274320"/>
          </a:xfrm>
          <a:prstGeom prst="rect">
            <a:avLst>
              <a:gd name="adj" fmla="val 13333"/>
            </a:avLst>
          </a:prstGeom>
          <a:solidFill>
            <a:srgbClr val="F77F00"/>
          </a:solidFill>
          <a:ln/>
        </p:spPr>
      </p:sp>
      <p:sp>
        <p:nvSpPr>
          <p:cNvPr id="28" name="Text 23"/>
          <p:cNvSpPr/>
          <p:nvPr/>
        </p:nvSpPr>
        <p:spPr>
          <a:xfrm>
            <a:off x="5532120" y="27432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►</a:t>
            </a:r>
            <a:endParaRPr lang="en-US" sz="1400" dirty="0"/>
          </a:p>
        </p:txBody>
      </p:sp>
      <p:sp>
        <p:nvSpPr>
          <p:cNvPr id="29" name="Text 24"/>
          <p:cNvSpPr/>
          <p:nvPr/>
        </p:nvSpPr>
        <p:spPr>
          <a:xfrm>
            <a:off x="5486400" y="3035808"/>
            <a:ext cx="640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q_result</a:t>
            </a:r>
            <a:endParaRPr lang="en-US" sz="700" dirty="0"/>
          </a:p>
        </p:txBody>
      </p:sp>
      <p:sp>
        <p:nvSpPr>
          <p:cNvPr id="30" name="Shape 25"/>
          <p:cNvSpPr/>
          <p:nvPr/>
        </p:nvSpPr>
        <p:spPr>
          <a:xfrm>
            <a:off x="6126480" y="2377440"/>
            <a:ext cx="2103120" cy="1143000"/>
          </a:xfrm>
          <a:prstGeom prst="roundRect">
            <a:avLst>
              <a:gd name="adj" fmla="val 6400"/>
            </a:avLst>
          </a:prstGeom>
          <a:solidFill>
            <a:srgbClr val="1A3A4A"/>
          </a:solidFill>
          <a:ln w="25400">
            <a:solidFill>
              <a:srgbClr val="F77F00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2514600"/>
            <a:ext cx="320040" cy="320040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6629400" y="246888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6263640" y="28346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狀態機 + Roast 語音</a:t>
            </a:r>
            <a:endParaRPr lang="en-US" sz="1000" dirty="0"/>
          </a:p>
        </p:txBody>
      </p:sp>
      <p:sp>
        <p:nvSpPr>
          <p:cNvPr id="34" name="Text 28"/>
          <p:cNvSpPr/>
          <p:nvPr/>
        </p:nvSpPr>
        <p:spPr>
          <a:xfrm>
            <a:off x="6263640" y="306324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面板 + 事件紀錄</a:t>
            </a:r>
            <a:endParaRPr lang="en-US" sz="1000" dirty="0"/>
          </a:p>
        </p:txBody>
      </p:sp>
      <p:sp>
        <p:nvSpPr>
          <p:cNvPr id="35" name="Text 29"/>
          <p:cNvSpPr/>
          <p:nvPr/>
        </p:nvSpPr>
        <p:spPr>
          <a:xfrm>
            <a:off x="141732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06D6A0"/>
                </a:solidFill>
              </a:rPr>
              <a:t>▼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640080" y="38862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A3A4A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7" name="Text 31"/>
          <p:cNvSpPr/>
          <p:nvPr/>
        </p:nvSpPr>
        <p:spPr>
          <a:xfrm>
            <a:off x="640080" y="3959352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燈號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640080" y="425196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✓ / Reject ✗ 指示</a:t>
            </a:r>
            <a:endParaRPr lang="en-US" sz="900" dirty="0"/>
          </a:p>
        </p:txBody>
      </p:sp>
      <p:sp>
        <p:nvSpPr>
          <p:cNvPr id="39" name="Text 33"/>
          <p:cNvSpPr/>
          <p:nvPr/>
        </p:nvSpPr>
        <p:spPr>
          <a:xfrm>
            <a:off x="6903720" y="34747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77F00"/>
                </a:solidFill>
              </a:rPr>
              <a:t>▼</a:t>
            </a:r>
            <a:endParaRPr lang="en-US" sz="1200" dirty="0"/>
          </a:p>
        </p:txBody>
      </p:sp>
      <p:sp>
        <p:nvSpPr>
          <p:cNvPr id="40" name="Shape 34"/>
          <p:cNvSpPr/>
          <p:nvPr/>
        </p:nvSpPr>
        <p:spPr>
          <a:xfrm>
            <a:off x="3383280" y="3886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A3A4A"/>
          </a:solidFill>
          <a:ln w="12700">
            <a:solidFill>
              <a:srgbClr val="F77F00"/>
            </a:solidFill>
            <a:prstDash val="solid"/>
          </a:ln>
        </p:spPr>
      </p:sp>
      <p:pic>
        <p:nvPicPr>
          <p:cNvPr id="4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75888" y="3959352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3383280" y="4270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</a:t>
            </a:r>
            <a:endParaRPr lang="en-US" sz="1000" dirty="0"/>
          </a:p>
        </p:txBody>
      </p:sp>
      <p:sp>
        <p:nvSpPr>
          <p:cNvPr id="43" name="Text 36"/>
          <p:cNvSpPr/>
          <p:nvPr/>
        </p:nvSpPr>
        <p:spPr>
          <a:xfrm>
            <a:off x="3383280" y="4434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語音</a:t>
            </a:r>
            <a:endParaRPr lang="en-US" sz="800" dirty="0"/>
          </a:p>
        </p:txBody>
      </p:sp>
      <p:sp>
        <p:nvSpPr>
          <p:cNvPr id="44" name="Shape 37"/>
          <p:cNvSpPr/>
          <p:nvPr/>
        </p:nvSpPr>
        <p:spPr>
          <a:xfrm>
            <a:off x="4572000" y="3886200"/>
            <a:ext cx="1005840" cy="777240"/>
          </a:xfrm>
          <a:prstGeom prst="roundRect">
            <a:avLst>
              <a:gd name="adj" fmla="val 7059"/>
            </a:avLst>
          </a:prstGeom>
          <a:solidFill>
            <a:srgbClr val="1A3A4A"/>
          </a:solidFill>
          <a:ln w="12700">
            <a:solidFill>
              <a:srgbClr val="F77F00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64608" y="3959352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4572000" y="4270248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螢幕</a:t>
            </a:r>
            <a:endParaRPr lang="en-US" sz="1000" dirty="0"/>
          </a:p>
        </p:txBody>
      </p:sp>
      <p:sp>
        <p:nvSpPr>
          <p:cNvPr id="47" name="Text 39"/>
          <p:cNvSpPr/>
          <p:nvPr/>
        </p:nvSpPr>
        <p:spPr>
          <a:xfrm>
            <a:off x="4572000" y="4434840"/>
            <a:ext cx="1005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公告+Admin</a:t>
            </a:r>
            <a:endParaRPr lang="en-US" sz="800" dirty="0"/>
          </a:p>
        </p:txBody>
      </p:sp>
      <p:sp>
        <p:nvSpPr>
          <p:cNvPr id="48" name="Text 40"/>
          <p:cNvSpPr/>
          <p:nvPr/>
        </p:nvSpPr>
        <p:spPr>
          <a:xfrm>
            <a:off x="3383280" y="4681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Display 控制 →</a:t>
            </a:r>
            <a:endParaRPr lang="en-US" sz="800" dirty="0"/>
          </a:p>
        </p:txBody>
      </p:sp>
      <p:sp>
        <p:nvSpPr>
          <p:cNvPr id="49" name="Text 41"/>
          <p:cNvSpPr/>
          <p:nvPr/>
        </p:nvSpPr>
        <p:spPr>
          <a:xfrm>
            <a:off x="640080" y="46817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Firmware 控制 →</a:t>
            </a:r>
            <a:endParaRPr lang="en-US" sz="800" dirty="0"/>
          </a:p>
        </p:txBody>
      </p:sp>
      <p:sp>
        <p:nvSpPr>
          <p:cNvPr id="50" name="Text 42"/>
          <p:cNvSpPr/>
          <p:nvPr/>
        </p:nvSpPr>
        <p:spPr>
          <a:xfrm>
            <a:off x="274320" y="4754880"/>
            <a:ext cx="8595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同機運行  ｜  multiprocessing.Queue (IPC)  ｜  無網路、無 MQTT  ｜  Launcher script 統一啟動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模型與硬體選型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1430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14300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模型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68580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192024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/ YOLOv11n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85800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分類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1920240" y="2167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Binary（accept / reject）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85800" y="2642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訓練資料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1920240" y="2642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TrashNet (2,527) + RealWaste (4,752)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85800" y="31181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訓練環境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1920240" y="31181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Colab T4 → ONNX → TensorRT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685800" y="3593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多物件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192024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偵測 &gt;1 物件 → 直接 reject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8580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低信心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192024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 &lt; 0.5 → 自嘲語音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1005840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43000"/>
            <a:ext cx="365760" cy="36576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53949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</a:t>
            </a:r>
            <a:endParaRPr lang="en-US" sz="1800" dirty="0"/>
          </a:p>
        </p:txBody>
      </p:sp>
      <p:sp>
        <p:nvSpPr>
          <p:cNvPr id="22" name="Text 18"/>
          <p:cNvSpPr/>
          <p:nvPr/>
        </p:nvSpPr>
        <p:spPr>
          <a:xfrm>
            <a:off x="4937760" y="169164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運算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172200" y="169164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Jetson AGX Orin Nano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4937760" y="216712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感測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172200" y="2167128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 RealSense D435（RGB-D）</a:t>
            </a:r>
            <a:endParaRPr lang="en-US" sz="1100" dirty="0"/>
          </a:p>
        </p:txBody>
      </p:sp>
      <p:sp>
        <p:nvSpPr>
          <p:cNvPr id="26" name="Text 22"/>
          <p:cNvSpPr/>
          <p:nvPr/>
        </p:nvSpPr>
        <p:spPr>
          <a:xfrm>
            <a:off x="4937760" y="2642616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RGB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172200" y="2642616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Vision 模組（模型推論）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937760" y="3118104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Depth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6172200" y="3118104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Firmware 模組（距離感測）</a:t>
            </a:r>
            <a:endParaRPr lang="en-US" sz="1100" dirty="0"/>
          </a:p>
        </p:txBody>
      </p:sp>
      <p:sp>
        <p:nvSpPr>
          <p:cNvPr id="30" name="Text 26"/>
          <p:cNvSpPr/>
          <p:nvPr/>
        </p:nvSpPr>
        <p:spPr>
          <a:xfrm>
            <a:off x="4937760" y="3593592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備案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172200" y="359359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 Webcam + HC-SR04 超音波</a:t>
            </a:r>
            <a:endParaRPr lang="en-US" sz="1100" dirty="0"/>
          </a:p>
        </p:txBody>
      </p:sp>
      <p:sp>
        <p:nvSpPr>
          <p:cNvPr id="32" name="Text 28"/>
          <p:cNvSpPr/>
          <p:nvPr/>
        </p:nvSpPr>
        <p:spPr>
          <a:xfrm>
            <a:off x="4937760" y="4069080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通訊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6172200" y="4069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multiprocessing.Queue（同機）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286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互動設計 — Roast 語音分級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005840"/>
            <a:ext cx="7863840" cy="621792"/>
          </a:xfrm>
          <a:prstGeom prst="rect">
            <a:avLst/>
          </a:prstGeom>
          <a:solidFill>
            <a:srgbClr val="132F3E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005840"/>
            <a:ext cx="54864" cy="62179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005840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正確分類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005840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輕度肯定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0" y="1005840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「⋯⋯算你會。」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55648"/>
            <a:ext cx="7863840" cy="621792"/>
          </a:xfrm>
          <a:prstGeom prst="rect">
            <a:avLst/>
          </a:prstGeom>
          <a:solidFill>
            <a:srgbClr val="132F3E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55648"/>
            <a:ext cx="54864" cy="621792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1" name="Text 9"/>
          <p:cNvSpPr/>
          <p:nvPr/>
        </p:nvSpPr>
        <p:spPr>
          <a:xfrm>
            <a:off x="914400" y="1755648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錯誤分類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560320" y="1755648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中度吐槽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840480" y="1755648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「這是塑膠不是紙，你眼睛被蛤蜊夾到了？」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2505456"/>
            <a:ext cx="7863840" cy="621792"/>
          </a:xfrm>
          <a:prstGeom prst="rect">
            <a:avLst/>
          </a:prstGeom>
          <a:solidFill>
            <a:srgbClr val="132F3E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505456"/>
            <a:ext cx="54864" cy="6217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505456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連續 2 次錯誤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2505456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重度 Roast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840480" y="2505456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「我已經第二次告訴你了，要不要去眼科？」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0080" y="3255264"/>
            <a:ext cx="7863840" cy="621792"/>
          </a:xfrm>
          <a:prstGeom prst="rect">
            <a:avLst/>
          </a:prstGeom>
          <a:solidFill>
            <a:srgbClr val="132F3E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" y="3255264"/>
            <a:ext cx="54864" cy="621792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1" name="Text 19"/>
          <p:cNvSpPr/>
          <p:nvPr/>
        </p:nvSpPr>
        <p:spPr>
          <a:xfrm>
            <a:off x="914400" y="3255264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一次丟多個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560320" y="3255264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中重度吐槽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840480" y="3255264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「一次丟一堆是在趕投胎？分一下好嗎。」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005072"/>
            <a:ext cx="7863840" cy="621792"/>
          </a:xfrm>
          <a:prstGeom prst="rect">
            <a:avLst/>
          </a:prstGeom>
          <a:solidFill>
            <a:srgbClr val="132F3E"/>
          </a:solidFill>
          <a:ln/>
        </p:spPr>
      </p:sp>
      <p:sp>
        <p:nvSpPr>
          <p:cNvPr id="25" name="Shape 23"/>
          <p:cNvSpPr/>
          <p:nvPr/>
        </p:nvSpPr>
        <p:spPr>
          <a:xfrm>
            <a:off x="640080" y="4005072"/>
            <a:ext cx="54864" cy="621792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4005072"/>
            <a:ext cx="16459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信心值太低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560320" y="4005072"/>
            <a:ext cx="1280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自嘲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840480" y="4005072"/>
            <a:ext cx="44805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「我看不太出來欸，可能是我老花。」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470916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每類 3-5 句隨機抽選 ｜ 音效「叮」+ 0.5 秒停頓 → 播 roast（戲劇張力）｜ 每句 ≤ 8 秒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Display 設計 — 雙螢幕角色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3977640" cy="54864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使用者端公告螢幕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64592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今日統計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正確投入次數 vs 被抓到亂丟次數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虛擬海龜計數器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累積正確分類 → 救活 N 隻虛擬海龜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最近犯案紀錄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時間 + D435 快照 + 辨識結果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本機 JSON log + 照片（不上雲）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749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005840"/>
            <a:ext cx="3977640" cy="54864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1887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7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控制面板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36118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系統狀態監控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連線狀態、模型載入狀態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參數即時調整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Confidence 閾值、Roast 音量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 Log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完整事件紀錄（可匯出 CSV）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時展示系統後台管理能力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分工與時程 — 6 週計畫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920240" cy="457200"/>
          </a:xfrm>
          <a:prstGeom prst="rect">
            <a:avLst/>
          </a:prstGeom>
          <a:solidFill>
            <a:srgbClr val="1B9AAA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設計收斂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文件簽收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硬體確認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測試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37744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A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60604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1005840"/>
            <a:ext cx="1920240" cy="4572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0604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W2-W3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60604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各自 PoC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743200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 fine-tune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感測鏈路通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語音播放器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2628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A"/>
                </a:solidFill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475488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005840"/>
            <a:ext cx="1920240" cy="45720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5488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W4-W5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75488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892040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串接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部署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同學試丟測試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675120" y="1645920"/>
            <a:ext cx="228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A6B7A"/>
                </a:solidFill>
              </a:rPr>
              <a:t>→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903720" y="1005840"/>
            <a:ext cx="1920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03720" y="1005840"/>
            <a:ext cx="1920240" cy="45720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27" name="Text 25"/>
          <p:cNvSpPr/>
          <p:nvPr/>
        </p:nvSpPr>
        <p:spPr>
          <a:xfrm>
            <a:off x="6903720" y="10058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03720" y="12344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155448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+ 報告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7040880" y="19659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期末報告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影片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期末展演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" y="3246120"/>
            <a:ext cx="8229600" cy="411480"/>
          </a:xfrm>
          <a:prstGeom prst="rect">
            <a:avLst/>
          </a:prstGeom>
          <a:solidFill>
            <a:srgbClr val="0B1D26"/>
          </a:solidFill>
          <a:ln/>
        </p:spPr>
      </p:sp>
      <p:pic>
        <p:nvPicPr>
          <p:cNvPr id="3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291840"/>
            <a:ext cx="274320" cy="274320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005840" y="32461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ai-enabled-emotional-garbagecane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5029200" y="3246120"/>
            <a:ext cx="3474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monorepo — 3 個子 repo 整合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457200" y="37490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457200" y="3749040"/>
            <a:ext cx="2606040" cy="45720"/>
          </a:xfrm>
          <a:prstGeom prst="rect">
            <a:avLst/>
          </a:prstGeom>
          <a:solidFill>
            <a:srgbClr val="1B9AAA"/>
          </a:solidFill>
          <a:ln/>
        </p:spPr>
      </p:sp>
      <p:pic>
        <p:nvPicPr>
          <p:cNvPr id="3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3840480"/>
            <a:ext cx="228600" cy="228600"/>
          </a:xfrm>
          <a:prstGeom prst="rect">
            <a:avLst/>
          </a:prstGeom>
        </p:spPr>
      </p:pic>
      <p:sp>
        <p:nvSpPr>
          <p:cNvPr id="38" name="Text 34"/>
          <p:cNvSpPr/>
          <p:nvPr/>
        </p:nvSpPr>
        <p:spPr>
          <a:xfrm>
            <a:off x="841248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9A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vision</a:t>
            </a:r>
            <a:endParaRPr lang="en-US" sz="1300" dirty="0"/>
          </a:p>
        </p:txBody>
      </p:sp>
      <p:sp>
        <p:nvSpPr>
          <p:cNvPr id="39" name="Text 35"/>
          <p:cNvSpPr/>
          <p:nvPr/>
        </p:nvSpPr>
        <p:spPr>
          <a:xfrm>
            <a:off x="566928" y="409651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影像辨識子系統</a:t>
            </a:r>
            <a:endParaRPr lang="en-US" sz="900" dirty="0"/>
          </a:p>
        </p:txBody>
      </p:sp>
      <p:sp>
        <p:nvSpPr>
          <p:cNvPr id="40" name="Shape 36"/>
          <p:cNvSpPr/>
          <p:nvPr/>
        </p:nvSpPr>
        <p:spPr>
          <a:xfrm>
            <a:off x="566928" y="4297680"/>
            <a:ext cx="2386584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1" name="Text 37"/>
          <p:cNvSpPr/>
          <p:nvPr/>
        </p:nvSpPr>
        <p:spPr>
          <a:xfrm>
            <a:off x="566928" y="431596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TrashNet + RealWaste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YOLOv8n fine-tune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分類 (accept/reject)</a:t>
            </a:r>
            <a:endParaRPr lang="en-US" sz="900" dirty="0"/>
          </a:p>
        </p:txBody>
      </p:sp>
      <p:sp>
        <p:nvSpPr>
          <p:cNvPr id="42" name="Shape 38"/>
          <p:cNvSpPr/>
          <p:nvPr/>
        </p:nvSpPr>
        <p:spPr>
          <a:xfrm>
            <a:off x="3291840" y="37490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39"/>
          <p:cNvSpPr/>
          <p:nvPr/>
        </p:nvSpPr>
        <p:spPr>
          <a:xfrm>
            <a:off x="3291840" y="3749040"/>
            <a:ext cx="2606040" cy="45720"/>
          </a:xfrm>
          <a:prstGeom prst="rect">
            <a:avLst/>
          </a:prstGeom>
          <a:solidFill>
            <a:srgbClr val="06D6A0"/>
          </a:solidFill>
          <a:ln/>
        </p:spPr>
      </p:sp>
      <p:pic>
        <p:nvPicPr>
          <p:cNvPr id="4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1568" y="3840480"/>
            <a:ext cx="228600" cy="228600"/>
          </a:xfrm>
          <a:prstGeom prst="rect">
            <a:avLst/>
          </a:prstGeom>
        </p:spPr>
      </p:pic>
      <p:sp>
        <p:nvSpPr>
          <p:cNvPr id="45" name="Text 40"/>
          <p:cNvSpPr/>
          <p:nvPr/>
        </p:nvSpPr>
        <p:spPr>
          <a:xfrm>
            <a:off x="3675888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firmware</a:t>
            </a:r>
            <a:endParaRPr lang="en-US" sz="1300" dirty="0"/>
          </a:p>
        </p:txBody>
      </p:sp>
      <p:sp>
        <p:nvSpPr>
          <p:cNvPr id="46" name="Text 41"/>
          <p:cNvSpPr/>
          <p:nvPr/>
        </p:nvSpPr>
        <p:spPr>
          <a:xfrm>
            <a:off x="3401568" y="409651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韌體感測子系統</a:t>
            </a:r>
            <a:endParaRPr lang="en-US" sz="900" dirty="0"/>
          </a:p>
        </p:txBody>
      </p:sp>
      <p:sp>
        <p:nvSpPr>
          <p:cNvPr id="47" name="Shape 42"/>
          <p:cNvSpPr/>
          <p:nvPr/>
        </p:nvSpPr>
        <p:spPr>
          <a:xfrm>
            <a:off x="3401568" y="4297680"/>
            <a:ext cx="2386584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48" name="Text 43"/>
          <p:cNvSpPr/>
          <p:nvPr/>
        </p:nvSpPr>
        <p:spPr>
          <a:xfrm>
            <a:off x="3401568" y="431596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Depth 距離感測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燈號控制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Queue 送 user_detected</a:t>
            </a:r>
            <a:endParaRPr lang="en-US" sz="900" dirty="0"/>
          </a:p>
        </p:txBody>
      </p:sp>
      <p:sp>
        <p:nvSpPr>
          <p:cNvPr id="49" name="Shape 44"/>
          <p:cNvSpPr/>
          <p:nvPr/>
        </p:nvSpPr>
        <p:spPr>
          <a:xfrm>
            <a:off x="6126480" y="3749040"/>
            <a:ext cx="2606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5"/>
          <p:cNvSpPr/>
          <p:nvPr/>
        </p:nvSpPr>
        <p:spPr>
          <a:xfrm>
            <a:off x="6126480" y="3749040"/>
            <a:ext cx="2606040" cy="45720"/>
          </a:xfrm>
          <a:prstGeom prst="rect">
            <a:avLst/>
          </a:prstGeom>
          <a:solidFill>
            <a:srgbClr val="F77F00"/>
          </a:solidFill>
          <a:ln/>
        </p:spPr>
      </p:sp>
      <p:pic>
        <p:nvPicPr>
          <p:cNvPr id="5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36208" y="3840480"/>
            <a:ext cx="228600" cy="228600"/>
          </a:xfrm>
          <a:prstGeom prst="rect">
            <a:avLst/>
          </a:prstGeom>
        </p:spPr>
      </p:pic>
      <p:sp>
        <p:nvSpPr>
          <p:cNvPr id="52" name="Text 46"/>
          <p:cNvSpPr/>
          <p:nvPr/>
        </p:nvSpPr>
        <p:spPr>
          <a:xfrm>
            <a:off x="6510528" y="38221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77F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display</a:t>
            </a:r>
            <a:endParaRPr lang="en-US" sz="1300" dirty="0"/>
          </a:p>
        </p:txBody>
      </p:sp>
      <p:sp>
        <p:nvSpPr>
          <p:cNvPr id="53" name="Text 47"/>
          <p:cNvSpPr/>
          <p:nvPr/>
        </p:nvSpPr>
        <p:spPr>
          <a:xfrm>
            <a:off x="6236208" y="4096512"/>
            <a:ext cx="2386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顯示與互動 UI</a:t>
            </a:r>
            <a:endParaRPr lang="en-US" sz="900" dirty="0"/>
          </a:p>
        </p:txBody>
      </p:sp>
      <p:sp>
        <p:nvSpPr>
          <p:cNvPr id="54" name="Shape 48"/>
          <p:cNvSpPr/>
          <p:nvPr/>
        </p:nvSpPr>
        <p:spPr>
          <a:xfrm>
            <a:off x="6236208" y="4297680"/>
            <a:ext cx="2386584" cy="9144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55" name="Text 49"/>
          <p:cNvSpPr/>
          <p:nvPr/>
        </p:nvSpPr>
        <p:spPr>
          <a:xfrm>
            <a:off x="6236208" y="4315968"/>
            <a:ext cx="23865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狀態機 + Roast 語音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面板 + 公告螢幕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事件紀錄 (JSON + 照片)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B1D26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風險與退路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371600"/>
            <a:ext cx="73152" cy="1188720"/>
          </a:xfrm>
          <a:prstGeom prst="rect">
            <a:avLst/>
          </a:prstGeom>
          <a:solidFill>
            <a:srgbClr val="E63946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50876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 環境配置卡關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機率：中  |  影響：高</a:t>
            </a:r>
            <a:endParaRPr lang="en-US" sz="12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06240" y="1691640"/>
            <a:ext cx="411480" cy="4114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754880" y="137160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臨時退路：筆電執行推論 demo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57200" y="3017520"/>
            <a:ext cx="822960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" y="3017520"/>
            <a:ext cx="73152" cy="1188720"/>
          </a:xfrm>
          <a:prstGeom prst="rect">
            <a:avLst/>
          </a:prstGeom>
          <a:solidFill>
            <a:srgbClr val="F77F00"/>
          </a:solidFill>
          <a:ln/>
        </p:spPr>
      </p:sp>
      <p:sp>
        <p:nvSpPr>
          <p:cNvPr id="12" name="Text 9"/>
          <p:cNvSpPr/>
          <p:nvPr/>
        </p:nvSpPr>
        <p:spPr>
          <a:xfrm>
            <a:off x="777240" y="3154680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D435 深度鏡頭借不到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77724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機率：中  |  影響：中</a:t>
            </a:r>
            <a:endParaRPr lang="en-US" sz="1200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3337560"/>
            <a:ext cx="411480" cy="4114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754880" y="3017520"/>
            <a:ext cx="3749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備案：筆電鏡頭 + OpenCV 動態偵測替代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D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B9AAA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我們不是要羞辱使用者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1B9AA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而是把分類錯誤的瞬間，變成一次記得住的學習事件。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3152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3x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73152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Emoticon-bin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回收率提升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283464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1B9AA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85%+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283464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目標辨識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準確率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493776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77F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≤2.5s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93776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端到端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延遲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7040880" y="30175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7040880" y="36576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使用者需要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按的按鈕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4DC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謝謝聆聽，歡迎提問。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情緒垃圾筒 — 實作前報告</dc:title>
  <dc:subject>PptxGenJS Presentation</dc:subject>
  <dc:creator>AI 情緒垃圾筒 Team</dc:creator>
  <cp:lastModifiedBy>AI 情緒垃圾筒 Team</cp:lastModifiedBy>
  <cp:revision>1</cp:revision>
  <dcterms:created xsi:type="dcterms:W3CDTF">2026-05-11T15:54:25Z</dcterms:created>
  <dcterms:modified xsi:type="dcterms:W3CDTF">2026-05-11T15:54:25Z</dcterms:modified>
</cp:coreProperties>
</file>